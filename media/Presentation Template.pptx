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3"/>
  </p:notesMasterIdLst>
  <p:handoutMasterIdLst>
    <p:handoutMasterId r:id="rId14"/>
  </p:handoutMasterIdLst>
  <p:sldIdLst>
    <p:sldId id="256" r:id="rId5"/>
    <p:sldId id="258" r:id="rId6"/>
    <p:sldId id="259" r:id="rId7"/>
    <p:sldId id="260" r:id="rId8"/>
    <p:sldId id="298" r:id="rId9"/>
    <p:sldId id="299" r:id="rId10"/>
    <p:sldId id="285" r:id="rId11"/>
    <p:sldId id="296" r:id="rId12"/>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8C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34" autoAdjust="0"/>
  </p:normalViewPr>
  <p:slideViewPr>
    <p:cSldViewPr>
      <p:cViewPr varScale="1">
        <p:scale>
          <a:sx n="66" d="100"/>
          <a:sy n="66" d="100"/>
        </p:scale>
        <p:origin x="72"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053E6278-76DB-4A73-9925-7A62DB09A966}"/>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 xmlns:a16="http://schemas.microsoft.com/office/drawing/2014/main" id="{F5C9D492-D22C-4BDB-9C37-0C994CDAFBB3}"/>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A203ECD1-1A39-4F0B-88A2-EB12499E963E}" type="datetimeFigureOut">
              <a:rPr lang="x-none" smtClean="0"/>
              <a:t>11/7/2024</a:t>
            </a:fld>
            <a:endParaRPr lang="x-none"/>
          </a:p>
        </p:txBody>
      </p:sp>
      <p:sp>
        <p:nvSpPr>
          <p:cNvPr id="4" name="Footer Placeholder 3">
            <a:extLst>
              <a:ext uri="{FF2B5EF4-FFF2-40B4-BE49-F238E27FC236}">
                <a16:creationId xmlns="" xmlns:a16="http://schemas.microsoft.com/office/drawing/2014/main" id="{62FA6835-99DD-4F47-AA86-FEFD7DE78E20}"/>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 xmlns:a16="http://schemas.microsoft.com/office/drawing/2014/main" id="{6DF0A825-468F-4698-805A-EA1163C77D52}"/>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7F4C2934-52B5-479C-BBAC-536DE20938A7}" type="slidenum">
              <a:rPr lang="x-none" smtClean="0"/>
              <a:t>‹#›</a:t>
            </a:fld>
            <a:endParaRPr lang="x-none"/>
          </a:p>
        </p:txBody>
      </p:sp>
    </p:spTree>
    <p:extLst>
      <p:ext uri="{BB962C8B-B14F-4D97-AF65-F5344CB8AC3E}">
        <p14:creationId xmlns:p14="http://schemas.microsoft.com/office/powerpoint/2010/main" val="7568774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7572D57-DAB4-41BC-A05D-A71D86DA5C08}" type="datetimeFigureOut">
              <a:rPr lang="en-GB" smtClean="0"/>
              <a:t>07/11/2024</a:t>
            </a:fld>
            <a:endParaRPr lang="en-GB"/>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078BE82-CA5A-4F93-AE93-A0E47A2A050A}" type="slidenum">
              <a:rPr lang="en-GB" smtClean="0"/>
              <a:t>‹#›</a:t>
            </a:fld>
            <a:endParaRPr lang="en-GB"/>
          </a:p>
        </p:txBody>
      </p:sp>
    </p:spTree>
    <p:extLst>
      <p:ext uri="{BB962C8B-B14F-4D97-AF65-F5344CB8AC3E}">
        <p14:creationId xmlns:p14="http://schemas.microsoft.com/office/powerpoint/2010/main" val="20769427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78BE82-CA5A-4F93-AE93-A0E47A2A050A}" type="slidenum">
              <a:rPr lang="en-GB" smtClean="0"/>
              <a:t>1</a:t>
            </a:fld>
            <a:endParaRPr lang="en-GB"/>
          </a:p>
        </p:txBody>
      </p:sp>
    </p:spTree>
    <p:extLst>
      <p:ext uri="{BB962C8B-B14F-4D97-AF65-F5344CB8AC3E}">
        <p14:creationId xmlns:p14="http://schemas.microsoft.com/office/powerpoint/2010/main" val="1647172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1- main</a:t>
            </a:r>
            <a:r>
              <a:rPr lang="en-GB" baseline="0" dirty="0" smtClean="0"/>
              <a:t> usage social media </a:t>
            </a:r>
          </a:p>
          <a:p>
            <a:r>
              <a:rPr lang="en-GB" baseline="0" dirty="0" smtClean="0"/>
              <a:t>2- twitter </a:t>
            </a:r>
            <a:r>
              <a:rPr lang="en-GB" baseline="0" dirty="0" err="1" smtClean="0"/>
              <a:t>facebook</a:t>
            </a:r>
            <a:endParaRPr lang="en-GB" baseline="0" dirty="0" smtClean="0"/>
          </a:p>
          <a:p>
            <a:r>
              <a:rPr lang="en-GB" baseline="0" dirty="0" smtClean="0"/>
              <a:t>3- usage of </a:t>
            </a:r>
            <a:r>
              <a:rPr lang="en-GB" baseline="0" dirty="0" err="1" smtClean="0"/>
              <a:t>twiiter</a:t>
            </a:r>
            <a:r>
              <a:rPr lang="en-GB" baseline="0" dirty="0" smtClean="0"/>
              <a:t> entertainment</a:t>
            </a:r>
          </a:p>
          <a:p>
            <a:r>
              <a:rPr lang="en-GB" baseline="0" dirty="0" smtClean="0"/>
              <a:t>4- share </a:t>
            </a:r>
            <a:r>
              <a:rPr lang="en-GB" baseline="0" dirty="0" err="1" smtClean="0"/>
              <a:t>karty</a:t>
            </a:r>
            <a:r>
              <a:rPr lang="en-GB" baseline="0" dirty="0" smtClean="0"/>
              <a:t> </a:t>
            </a:r>
            <a:r>
              <a:rPr lang="en-GB" baseline="0" dirty="0" err="1" smtClean="0"/>
              <a:t>hain</a:t>
            </a:r>
            <a:r>
              <a:rPr lang="en-GB" baseline="0" dirty="0" smtClean="0"/>
              <a:t> </a:t>
            </a:r>
            <a:r>
              <a:rPr lang="en-GB" baseline="0" smtClean="0"/>
              <a:t>news without </a:t>
            </a:r>
            <a:r>
              <a:rPr lang="en-GB" baseline="0" dirty="0" smtClean="0"/>
              <a:t>authentication of current affairs</a:t>
            </a:r>
          </a:p>
          <a:p>
            <a:r>
              <a:rPr lang="en-GB" baseline="0" dirty="0" smtClean="0"/>
              <a:t>5- schemers is </a:t>
            </a:r>
            <a:r>
              <a:rPr lang="en-GB" baseline="0" dirty="0" err="1" smtClean="0"/>
              <a:t>ka</a:t>
            </a:r>
            <a:r>
              <a:rPr lang="en-GB" baseline="0" dirty="0" smtClean="0"/>
              <a:t> </a:t>
            </a:r>
            <a:r>
              <a:rPr lang="en-GB" baseline="0" dirty="0" err="1" smtClean="0"/>
              <a:t>faida</a:t>
            </a:r>
            <a:r>
              <a:rPr lang="en-GB" baseline="0" dirty="0" smtClean="0"/>
              <a:t> </a:t>
            </a:r>
            <a:r>
              <a:rPr lang="en-GB" baseline="0" dirty="0" err="1" smtClean="0"/>
              <a:t>uthaty</a:t>
            </a:r>
            <a:r>
              <a:rPr lang="en-GB" baseline="0" dirty="0" smtClean="0"/>
              <a:t> </a:t>
            </a:r>
            <a:r>
              <a:rPr lang="en-GB" baseline="0" dirty="0" err="1" smtClean="0"/>
              <a:t>hain</a:t>
            </a:r>
            <a:r>
              <a:rPr lang="en-GB" baseline="0" dirty="0" smtClean="0"/>
              <a:t> yeah 1 thread ha</a:t>
            </a:r>
          </a:p>
          <a:p>
            <a:r>
              <a:rPr lang="en-GB" baseline="0" dirty="0" smtClean="0"/>
              <a:t>6- </a:t>
            </a:r>
            <a:r>
              <a:rPr lang="en-GB" baseline="0" dirty="0" err="1" smtClean="0"/>
              <a:t>isko</a:t>
            </a:r>
            <a:r>
              <a:rPr lang="en-GB" baseline="0" dirty="0" smtClean="0"/>
              <a:t> overcome </a:t>
            </a:r>
            <a:r>
              <a:rPr lang="en-GB" baseline="0" dirty="0" err="1" smtClean="0"/>
              <a:t>karnay</a:t>
            </a:r>
            <a:r>
              <a:rPr lang="en-GB" baseline="0" dirty="0" smtClean="0"/>
              <a:t> </a:t>
            </a:r>
            <a:r>
              <a:rPr lang="en-GB" baseline="0" dirty="0" err="1" smtClean="0"/>
              <a:t>kay</a:t>
            </a:r>
            <a:r>
              <a:rPr lang="en-GB" baseline="0" dirty="0" smtClean="0"/>
              <a:t> </a:t>
            </a:r>
            <a:r>
              <a:rPr lang="en-GB" baseline="0" dirty="0" err="1" smtClean="0"/>
              <a:t>liay</a:t>
            </a:r>
            <a:r>
              <a:rPr lang="en-GB" baseline="0" dirty="0" smtClean="0"/>
              <a:t> </a:t>
            </a:r>
            <a:r>
              <a:rPr lang="en-GB" baseline="0" dirty="0" err="1" smtClean="0"/>
              <a:t>bohat</a:t>
            </a:r>
            <a:r>
              <a:rPr lang="en-GB" baseline="0" dirty="0" smtClean="0"/>
              <a:t> say </a:t>
            </a:r>
            <a:r>
              <a:rPr lang="en-GB" baseline="0" dirty="0" err="1" smtClean="0"/>
              <a:t>reserachers</a:t>
            </a:r>
            <a:r>
              <a:rPr lang="en-GB" baseline="0" dirty="0" smtClean="0"/>
              <a:t> nay different techniques use </a:t>
            </a:r>
            <a:r>
              <a:rPr lang="en-GB" baseline="0" dirty="0" err="1" smtClean="0"/>
              <a:t>ki</a:t>
            </a:r>
            <a:r>
              <a:rPr lang="en-GB" baseline="0" dirty="0" smtClean="0"/>
              <a:t> </a:t>
            </a:r>
            <a:r>
              <a:rPr lang="en-GB" baseline="0" dirty="0" err="1" smtClean="0"/>
              <a:t>hain</a:t>
            </a:r>
            <a:r>
              <a:rPr lang="en-GB" baseline="0" dirty="0" smtClean="0"/>
              <a:t> </a:t>
            </a:r>
            <a:r>
              <a:rPr lang="en-GB" baseline="0" dirty="0" err="1" smtClean="0"/>
              <a:t>isay</a:t>
            </a:r>
            <a:r>
              <a:rPr lang="en-GB" baseline="0" dirty="0" smtClean="0"/>
              <a:t> overcome </a:t>
            </a:r>
            <a:r>
              <a:rPr lang="en-GB" baseline="0" dirty="0" err="1" smtClean="0"/>
              <a:t>karny</a:t>
            </a:r>
            <a:r>
              <a:rPr lang="en-GB" baseline="0" dirty="0" smtClean="0"/>
              <a:t> </a:t>
            </a:r>
            <a:r>
              <a:rPr lang="en-GB" baseline="0" dirty="0" err="1" smtClean="0"/>
              <a:t>ky</a:t>
            </a:r>
            <a:r>
              <a:rPr lang="en-GB" baseline="0" dirty="0" smtClean="0"/>
              <a:t> </a:t>
            </a:r>
            <a:r>
              <a:rPr lang="en-GB" baseline="0" dirty="0" err="1" smtClean="0"/>
              <a:t>liay</a:t>
            </a:r>
            <a:endParaRPr lang="en-GB" baseline="0" dirty="0" smtClean="0"/>
          </a:p>
          <a:p>
            <a:endParaRPr lang="en-GB" baseline="0" dirty="0" smtClean="0"/>
          </a:p>
          <a:p>
            <a:endParaRPr lang="en-GB" dirty="0"/>
          </a:p>
        </p:txBody>
      </p:sp>
      <p:sp>
        <p:nvSpPr>
          <p:cNvPr id="4" name="Slide Number Placeholder 3"/>
          <p:cNvSpPr>
            <a:spLocks noGrp="1"/>
          </p:cNvSpPr>
          <p:nvPr>
            <p:ph type="sldNum" sz="quarter" idx="5"/>
          </p:nvPr>
        </p:nvSpPr>
        <p:spPr/>
        <p:txBody>
          <a:bodyPr/>
          <a:lstStyle/>
          <a:p>
            <a:fld id="{0078BE82-CA5A-4F93-AE93-A0E47A2A050A}" type="slidenum">
              <a:rPr lang="en-GB" smtClean="0"/>
              <a:t>2</a:t>
            </a:fld>
            <a:endParaRPr lang="en-GB"/>
          </a:p>
        </p:txBody>
      </p:sp>
    </p:spTree>
    <p:extLst>
      <p:ext uri="{BB962C8B-B14F-4D97-AF65-F5344CB8AC3E}">
        <p14:creationId xmlns:p14="http://schemas.microsoft.com/office/powerpoint/2010/main" val="4051645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400" b="0" i="0">
                <a:solidFill>
                  <a:schemeClr val="bg1"/>
                </a:solidFill>
                <a:latin typeface="Calibri"/>
                <a:cs typeface="Calibri"/>
              </a:defRPr>
            </a:lvl1pPr>
          </a:lstStyle>
          <a:p>
            <a:pPr algn="ctr">
              <a:lnSpc>
                <a:spcPts val="1435"/>
              </a:lnSpc>
            </a:pPr>
            <a:r>
              <a:rPr lang="en-US"/>
              <a:t>MS synopsis defense by XXXX, Oct 04, 2021 Department of Computer Science, COMSATS University Islamabad, Islamabad-Pakistan</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743384F-72EA-4CCE-9D58-995F7425DAC7}" type="datetime1">
              <a:rPr lang="en-US" smtClean="0"/>
              <a:t>11/7/2024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1" i="0">
                <a:solidFill>
                  <a:srgbClr val="0462C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400" b="0" i="0">
                <a:solidFill>
                  <a:schemeClr val="bg1"/>
                </a:solidFill>
                <a:latin typeface="Calibri"/>
                <a:cs typeface="Calibri"/>
              </a:defRPr>
            </a:lvl1pPr>
          </a:lstStyle>
          <a:p>
            <a:pPr algn="ctr">
              <a:lnSpc>
                <a:spcPts val="1435"/>
              </a:lnSpc>
            </a:pPr>
            <a:r>
              <a:rPr lang="en-US"/>
              <a:t>MS synopsis defense by XXXX, Oct 04, 2021 Department of Computer Science, COMSATS University Islamabad, Islamabad-Pakistan</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74653E61-21EF-44DB-8D1B-61D7922FCBB9}" type="datetime1">
              <a:rPr lang="en-US" smtClean="0"/>
              <a:t>11/7/2024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chemeClr val="bg1"/>
                </a:solidFill>
                <a:latin typeface="Calibri"/>
                <a:cs typeface="Calibri"/>
              </a:defRPr>
            </a:lvl1pPr>
          </a:lstStyle>
          <a:p>
            <a:pPr algn="ctr">
              <a:lnSpc>
                <a:spcPts val="1435"/>
              </a:lnSpc>
            </a:pPr>
            <a:r>
              <a:rPr lang="en-US"/>
              <a:t>MS synopsis defense by XXXX, Oct 04, 2021 Department of Computer Science, COMSATS University Islamabad, Islamabad-Pakistan</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BD2C6809-8E92-46A9-86D6-8CC94CDD8A76}" type="datetime1">
              <a:rPr lang="en-US" smtClean="0"/>
              <a:t>11/7/2024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400" b="0" i="0">
                <a:solidFill>
                  <a:schemeClr val="bg1"/>
                </a:solidFill>
                <a:latin typeface="Calibri"/>
                <a:cs typeface="Calibri"/>
              </a:defRPr>
            </a:lvl1pPr>
          </a:lstStyle>
          <a:p>
            <a:pPr algn="ctr">
              <a:lnSpc>
                <a:spcPts val="1435"/>
              </a:lnSpc>
            </a:pPr>
            <a:r>
              <a:rPr lang="en-US"/>
              <a:t>MS synopsis defense by XXXX, Oct 04, 2021 Department of Computer Science, COMSATS University Islamabad, Islamabad-Pakistan</a:t>
            </a:r>
            <a:endParaRPr spc="-5"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48508F5-5CD3-4ED2-867A-61C994028D7E}" type="datetime1">
              <a:rPr lang="en-US" smtClean="0"/>
              <a:t>11/7/2024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0" i="0">
                <a:solidFill>
                  <a:schemeClr val="bg1"/>
                </a:solidFill>
                <a:latin typeface="Calibri"/>
                <a:cs typeface="Calibri"/>
              </a:defRPr>
            </a:lvl1pPr>
          </a:lstStyle>
          <a:p>
            <a:pPr algn="ctr">
              <a:lnSpc>
                <a:spcPts val="1435"/>
              </a:lnSpc>
            </a:pPr>
            <a:r>
              <a:rPr lang="en-US"/>
              <a:t>MS synopsis defense by XXXX, Oct 04, 2021 Department of Computer Science, COMSATS University Islamabad, Islamabad-Pakistan</a:t>
            </a:r>
            <a:endParaRPr spc="-5"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C8CD2A4C-4BC6-430D-AE4D-C5C62FCEEAD3}" type="datetime1">
              <a:rPr lang="en-US" smtClean="0"/>
              <a:t>11/7/2024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472182" y="6254191"/>
            <a:ext cx="7009765" cy="527685"/>
          </a:xfrm>
          <a:custGeom>
            <a:avLst/>
            <a:gdLst/>
            <a:ahLst/>
            <a:cxnLst/>
            <a:rect l="l" t="t" r="r" b="b"/>
            <a:pathLst>
              <a:path w="7009765" h="527684">
                <a:moveTo>
                  <a:pt x="0" y="527303"/>
                </a:moveTo>
                <a:lnTo>
                  <a:pt x="7009510" y="527303"/>
                </a:lnTo>
                <a:lnTo>
                  <a:pt x="7009510" y="0"/>
                </a:lnTo>
                <a:lnTo>
                  <a:pt x="0" y="0"/>
                </a:lnTo>
                <a:lnTo>
                  <a:pt x="0" y="527303"/>
                </a:lnTo>
                <a:close/>
              </a:path>
            </a:pathLst>
          </a:custGeom>
          <a:solidFill>
            <a:srgbClr val="1D9A78"/>
          </a:solidFill>
        </p:spPr>
        <p:txBody>
          <a:bodyPr wrap="square" lIns="0" tIns="0" rIns="0" bIns="0" rtlCol="0"/>
          <a:lstStyle/>
          <a:p>
            <a:endParaRPr/>
          </a:p>
        </p:txBody>
      </p:sp>
      <p:sp>
        <p:nvSpPr>
          <p:cNvPr id="17" name="bk object 17"/>
          <p:cNvSpPr/>
          <p:nvPr/>
        </p:nvSpPr>
        <p:spPr>
          <a:xfrm>
            <a:off x="2539238" y="6254191"/>
            <a:ext cx="6875780" cy="216535"/>
          </a:xfrm>
          <a:custGeom>
            <a:avLst/>
            <a:gdLst/>
            <a:ahLst/>
            <a:cxnLst/>
            <a:rect l="l" t="t" r="r" b="b"/>
            <a:pathLst>
              <a:path w="6875780" h="216535">
                <a:moveTo>
                  <a:pt x="0" y="216407"/>
                </a:moveTo>
                <a:lnTo>
                  <a:pt x="6875398" y="216407"/>
                </a:lnTo>
                <a:lnTo>
                  <a:pt x="6875398" y="0"/>
                </a:lnTo>
                <a:lnTo>
                  <a:pt x="0" y="0"/>
                </a:lnTo>
                <a:lnTo>
                  <a:pt x="0" y="216407"/>
                </a:lnTo>
                <a:close/>
              </a:path>
            </a:pathLst>
          </a:custGeom>
          <a:solidFill>
            <a:srgbClr val="1D9A78"/>
          </a:solidFill>
        </p:spPr>
        <p:txBody>
          <a:bodyPr wrap="square" lIns="0" tIns="0" rIns="0" bIns="0" rtlCol="0"/>
          <a:lstStyle/>
          <a:p>
            <a:endParaRPr/>
          </a:p>
        </p:txBody>
      </p:sp>
      <p:sp>
        <p:nvSpPr>
          <p:cNvPr id="18" name="bk object 18"/>
          <p:cNvSpPr/>
          <p:nvPr/>
        </p:nvSpPr>
        <p:spPr>
          <a:xfrm>
            <a:off x="2539238" y="6470599"/>
            <a:ext cx="6875780" cy="218440"/>
          </a:xfrm>
          <a:custGeom>
            <a:avLst/>
            <a:gdLst/>
            <a:ahLst/>
            <a:cxnLst/>
            <a:rect l="l" t="t" r="r" b="b"/>
            <a:pathLst>
              <a:path w="6875780" h="218440">
                <a:moveTo>
                  <a:pt x="0" y="217932"/>
                </a:moveTo>
                <a:lnTo>
                  <a:pt x="6875398" y="217932"/>
                </a:lnTo>
                <a:lnTo>
                  <a:pt x="6875398" y="0"/>
                </a:lnTo>
                <a:lnTo>
                  <a:pt x="0" y="0"/>
                </a:lnTo>
                <a:lnTo>
                  <a:pt x="0" y="217932"/>
                </a:lnTo>
                <a:close/>
              </a:path>
            </a:pathLst>
          </a:custGeom>
          <a:solidFill>
            <a:srgbClr val="1D9A78"/>
          </a:solidFill>
        </p:spPr>
        <p:txBody>
          <a:bodyPr wrap="square" lIns="0" tIns="0" rIns="0" bIns="0" rtlCol="0"/>
          <a:lstStyle/>
          <a:p>
            <a:endParaRPr/>
          </a:p>
        </p:txBody>
      </p:sp>
      <p:sp>
        <p:nvSpPr>
          <p:cNvPr id="19" name="bk object 19"/>
          <p:cNvSpPr/>
          <p:nvPr/>
        </p:nvSpPr>
        <p:spPr>
          <a:xfrm>
            <a:off x="2472182" y="6162751"/>
            <a:ext cx="7009765" cy="12700"/>
          </a:xfrm>
          <a:custGeom>
            <a:avLst/>
            <a:gdLst/>
            <a:ahLst/>
            <a:cxnLst/>
            <a:rect l="l" t="t" r="r" b="b"/>
            <a:pathLst>
              <a:path w="7009765" h="12700">
                <a:moveTo>
                  <a:pt x="0" y="12191"/>
                </a:moveTo>
                <a:lnTo>
                  <a:pt x="7009510" y="12191"/>
                </a:lnTo>
                <a:lnTo>
                  <a:pt x="7009510" y="0"/>
                </a:lnTo>
                <a:lnTo>
                  <a:pt x="0" y="0"/>
                </a:lnTo>
                <a:lnTo>
                  <a:pt x="0" y="12191"/>
                </a:lnTo>
                <a:close/>
              </a:path>
            </a:pathLst>
          </a:custGeom>
          <a:solidFill>
            <a:srgbClr val="126F55"/>
          </a:solidFill>
        </p:spPr>
        <p:txBody>
          <a:bodyPr wrap="square" lIns="0" tIns="0" rIns="0" bIns="0" rtlCol="0"/>
          <a:lstStyle/>
          <a:p>
            <a:endParaRPr/>
          </a:p>
        </p:txBody>
      </p:sp>
      <p:sp>
        <p:nvSpPr>
          <p:cNvPr id="20" name="bk object 20"/>
          <p:cNvSpPr/>
          <p:nvPr/>
        </p:nvSpPr>
        <p:spPr>
          <a:xfrm>
            <a:off x="2472182" y="6174943"/>
            <a:ext cx="7009765" cy="79375"/>
          </a:xfrm>
          <a:custGeom>
            <a:avLst/>
            <a:gdLst/>
            <a:ahLst/>
            <a:cxnLst/>
            <a:rect l="l" t="t" r="r" b="b"/>
            <a:pathLst>
              <a:path w="7009765" h="79375">
                <a:moveTo>
                  <a:pt x="0" y="79247"/>
                </a:moveTo>
                <a:lnTo>
                  <a:pt x="7009510" y="79247"/>
                </a:lnTo>
                <a:lnTo>
                  <a:pt x="7009510" y="0"/>
                </a:lnTo>
                <a:lnTo>
                  <a:pt x="0" y="0"/>
                </a:lnTo>
                <a:lnTo>
                  <a:pt x="0" y="79247"/>
                </a:lnTo>
                <a:close/>
              </a:path>
            </a:pathLst>
          </a:custGeom>
          <a:solidFill>
            <a:srgbClr val="1D9A78"/>
          </a:solidFill>
        </p:spPr>
        <p:txBody>
          <a:bodyPr wrap="square" lIns="0" tIns="0" rIns="0" bIns="0" rtlCol="0"/>
          <a:lstStyle/>
          <a:p>
            <a:endParaRPr/>
          </a:p>
        </p:txBody>
      </p:sp>
      <p:sp>
        <p:nvSpPr>
          <p:cNvPr id="21" name="bk object 21"/>
          <p:cNvSpPr/>
          <p:nvPr/>
        </p:nvSpPr>
        <p:spPr>
          <a:xfrm>
            <a:off x="2466086"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a:endParaRPr/>
          </a:p>
        </p:txBody>
      </p:sp>
      <p:sp>
        <p:nvSpPr>
          <p:cNvPr id="22" name="bk object 22"/>
          <p:cNvSpPr/>
          <p:nvPr/>
        </p:nvSpPr>
        <p:spPr>
          <a:xfrm>
            <a:off x="2472182" y="6781494"/>
            <a:ext cx="7009765" cy="12700"/>
          </a:xfrm>
          <a:custGeom>
            <a:avLst/>
            <a:gdLst/>
            <a:ahLst/>
            <a:cxnLst/>
            <a:rect l="l" t="t" r="r" b="b"/>
            <a:pathLst>
              <a:path w="7009765" h="12700">
                <a:moveTo>
                  <a:pt x="0" y="12192"/>
                </a:moveTo>
                <a:lnTo>
                  <a:pt x="7009510" y="12192"/>
                </a:lnTo>
                <a:lnTo>
                  <a:pt x="7009510" y="0"/>
                </a:lnTo>
                <a:lnTo>
                  <a:pt x="0" y="0"/>
                </a:lnTo>
                <a:lnTo>
                  <a:pt x="0" y="12192"/>
                </a:lnTo>
                <a:close/>
              </a:path>
            </a:pathLst>
          </a:custGeom>
          <a:solidFill>
            <a:srgbClr val="126F55"/>
          </a:solidFill>
        </p:spPr>
        <p:txBody>
          <a:bodyPr wrap="square" lIns="0" tIns="0" rIns="0" bIns="0" rtlCol="0"/>
          <a:lstStyle/>
          <a:p>
            <a:endParaRPr/>
          </a:p>
        </p:txBody>
      </p:sp>
      <p:sp>
        <p:nvSpPr>
          <p:cNvPr id="23" name="bk object 23"/>
          <p:cNvSpPr/>
          <p:nvPr/>
        </p:nvSpPr>
        <p:spPr>
          <a:xfrm>
            <a:off x="9487789"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a:endParaRPr/>
          </a:p>
        </p:txBody>
      </p:sp>
      <p:sp>
        <p:nvSpPr>
          <p:cNvPr id="2" name="Holder 2"/>
          <p:cNvSpPr>
            <a:spLocks noGrp="1"/>
          </p:cNvSpPr>
          <p:nvPr>
            <p:ph type="title"/>
          </p:nvPr>
        </p:nvSpPr>
        <p:spPr>
          <a:xfrm>
            <a:off x="3700525" y="880618"/>
            <a:ext cx="4790948" cy="988694"/>
          </a:xfrm>
          <a:prstGeom prst="rect">
            <a:avLst/>
          </a:prstGeom>
        </p:spPr>
        <p:txBody>
          <a:bodyPr wrap="square" lIns="0" tIns="0" rIns="0" bIns="0">
            <a:spAutoFit/>
          </a:bodyPr>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777871" y="2688462"/>
            <a:ext cx="6636257" cy="2675254"/>
          </a:xfrm>
          <a:prstGeom prst="rect">
            <a:avLst/>
          </a:prstGeom>
        </p:spPr>
        <p:txBody>
          <a:bodyPr wrap="square" lIns="0" tIns="0" rIns="0" bIns="0">
            <a:spAutoFit/>
          </a:bodyPr>
          <a:lstStyle>
            <a:lvl1pPr>
              <a:defRPr sz="2400" b="1" i="0">
                <a:solidFill>
                  <a:srgbClr val="0462C1"/>
                </a:solidFill>
                <a:latin typeface="Times New Roman"/>
                <a:cs typeface="Times New Roman"/>
              </a:defRPr>
            </a:lvl1pPr>
          </a:lstStyle>
          <a:p>
            <a:endParaRPr/>
          </a:p>
        </p:txBody>
      </p:sp>
      <p:sp>
        <p:nvSpPr>
          <p:cNvPr id="4" name="Holder 4"/>
          <p:cNvSpPr>
            <a:spLocks noGrp="1"/>
          </p:cNvSpPr>
          <p:nvPr>
            <p:ph type="ftr" sz="quarter" idx="5"/>
          </p:nvPr>
        </p:nvSpPr>
        <p:spPr>
          <a:xfrm>
            <a:off x="2835910" y="6276924"/>
            <a:ext cx="6284595" cy="394980"/>
          </a:xfrm>
          <a:prstGeom prst="rect">
            <a:avLst/>
          </a:prstGeom>
        </p:spPr>
        <p:txBody>
          <a:bodyPr wrap="square" lIns="0" tIns="0" rIns="0" bIns="0">
            <a:spAutoFit/>
          </a:bodyPr>
          <a:lstStyle>
            <a:lvl1pPr>
              <a:defRPr sz="1400" b="0" i="0">
                <a:solidFill>
                  <a:schemeClr val="bg1"/>
                </a:solidFill>
                <a:latin typeface="Calibri"/>
                <a:cs typeface="Calibri"/>
              </a:defRPr>
            </a:lvl1pPr>
          </a:lstStyle>
          <a:p>
            <a:pPr algn="ctr">
              <a:lnSpc>
                <a:spcPts val="1435"/>
              </a:lnSpc>
            </a:pPr>
            <a:r>
              <a:rPr lang="en-US"/>
              <a:t>MS synopsis defense by XXXX, Oct 04, 2021 Department of Computer Science, COMSATS University Islamabad, Islamabad-Pakistan</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CAA99EAD-80B1-4D15-891B-334D736D0BFF}" type="datetime1">
              <a:rPr lang="en-US" smtClean="0"/>
              <a:t>11/7/2024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80335" y="699261"/>
            <a:ext cx="7225665" cy="566822"/>
          </a:xfrm>
          <a:prstGeom prst="rect">
            <a:avLst/>
          </a:prstGeom>
        </p:spPr>
        <p:txBody>
          <a:bodyPr vert="horz" wrap="square" lIns="0" tIns="12700" rIns="0" bIns="0" rtlCol="0">
            <a:spAutoFit/>
          </a:bodyPr>
          <a:lstStyle/>
          <a:p>
            <a:pPr algn="ctr">
              <a:lnSpc>
                <a:spcPct val="100000"/>
              </a:lnSpc>
              <a:spcBef>
                <a:spcPts val="100"/>
              </a:spcBef>
            </a:pPr>
            <a:r>
              <a:rPr lang="en-US" sz="3600" spc="-5" dirty="0" smtClean="0"/>
              <a:t>Tourism App</a:t>
            </a:r>
            <a:endParaRPr sz="3600" dirty="0"/>
          </a:p>
        </p:txBody>
      </p:sp>
      <p:sp>
        <p:nvSpPr>
          <p:cNvPr id="3" name="object 3"/>
          <p:cNvSpPr txBox="1">
            <a:spLocks noGrp="1"/>
          </p:cNvSpPr>
          <p:nvPr>
            <p:ph type="body" idx="1"/>
          </p:nvPr>
        </p:nvSpPr>
        <p:spPr>
          <a:xfrm>
            <a:off x="2777871" y="1828800"/>
            <a:ext cx="6636257" cy="3369512"/>
          </a:xfrm>
          <a:prstGeom prst="rect">
            <a:avLst/>
          </a:prstGeom>
        </p:spPr>
        <p:txBody>
          <a:bodyPr vert="horz" wrap="square" lIns="0" tIns="139065" rIns="0" bIns="0" rtlCol="0">
            <a:spAutoFit/>
          </a:bodyPr>
          <a:lstStyle/>
          <a:p>
            <a:pPr marL="676275" marR="590550" algn="ctr">
              <a:lnSpc>
                <a:spcPct val="100000"/>
              </a:lnSpc>
              <a:spcBef>
                <a:spcPts val="1095"/>
              </a:spcBef>
            </a:pPr>
            <a:r>
              <a:rPr lang="en-GB" spc="-5" dirty="0" smtClean="0">
                <a:solidFill>
                  <a:srgbClr val="3A8C6B"/>
                </a:solidFill>
              </a:rPr>
              <a:t>Muhammad Ali </a:t>
            </a:r>
            <a:r>
              <a:rPr lang="en-GB" spc="-5" dirty="0" err="1" smtClean="0">
                <a:solidFill>
                  <a:srgbClr val="3A8C6B"/>
                </a:solidFill>
              </a:rPr>
              <a:t>Ilyas</a:t>
            </a:r>
            <a:endParaRPr dirty="0">
              <a:solidFill>
                <a:srgbClr val="3A8C6B"/>
              </a:solidFill>
            </a:endParaRPr>
          </a:p>
          <a:p>
            <a:pPr marL="676275" marR="623570" algn="ctr">
              <a:lnSpc>
                <a:spcPts val="2835"/>
              </a:lnSpc>
              <a:spcBef>
                <a:spcPts val="994"/>
              </a:spcBef>
            </a:pPr>
            <a:r>
              <a:rPr b="0" spc="-5" dirty="0" smtClean="0">
                <a:solidFill>
                  <a:srgbClr val="000000"/>
                </a:solidFill>
                <a:latin typeface="Times New Roman"/>
                <a:cs typeface="Times New Roman"/>
              </a:rPr>
              <a:t>(19-</a:t>
            </a:r>
            <a:r>
              <a:rPr lang="en-US" b="0" spc="-5" dirty="0" smtClean="0">
                <a:solidFill>
                  <a:srgbClr val="000000"/>
                </a:solidFill>
              </a:rPr>
              <a:t>Arid</a:t>
            </a:r>
            <a:r>
              <a:rPr lang="en-US" b="0" spc="-5" dirty="0" smtClean="0">
                <a:solidFill>
                  <a:srgbClr val="000000"/>
                </a:solidFill>
              </a:rPr>
              <a:t>-037</a:t>
            </a:r>
            <a:r>
              <a:rPr b="0" spc="-5" dirty="0" smtClean="0">
                <a:solidFill>
                  <a:srgbClr val="000000"/>
                </a:solidFill>
                <a:latin typeface="Times New Roman"/>
                <a:cs typeface="Times New Roman"/>
              </a:rPr>
              <a:t>)</a:t>
            </a:r>
            <a:endParaRPr lang="en-US" b="0" spc="-5" dirty="0" smtClean="0">
              <a:solidFill>
                <a:srgbClr val="000000"/>
              </a:solidFill>
              <a:latin typeface="Times New Roman"/>
              <a:cs typeface="Times New Roman"/>
            </a:endParaRPr>
          </a:p>
          <a:p>
            <a:pPr marL="676275" marR="590550" algn="ctr">
              <a:lnSpc>
                <a:spcPct val="100000"/>
              </a:lnSpc>
              <a:spcBef>
                <a:spcPts val="1095"/>
              </a:spcBef>
            </a:pPr>
            <a:r>
              <a:rPr lang="en-GB" spc="-5" dirty="0">
                <a:solidFill>
                  <a:srgbClr val="3A8C6B"/>
                </a:solidFill>
              </a:rPr>
              <a:t>Muhammad Ali </a:t>
            </a:r>
            <a:r>
              <a:rPr lang="en-GB" spc="-5" dirty="0" err="1">
                <a:solidFill>
                  <a:srgbClr val="3A8C6B"/>
                </a:solidFill>
              </a:rPr>
              <a:t>Ilyas</a:t>
            </a:r>
            <a:endParaRPr lang="en-GB" dirty="0">
              <a:solidFill>
                <a:srgbClr val="3A8C6B"/>
              </a:solidFill>
            </a:endParaRPr>
          </a:p>
          <a:p>
            <a:pPr marL="676275" marR="623570" algn="ctr">
              <a:lnSpc>
                <a:spcPts val="2835"/>
              </a:lnSpc>
              <a:spcBef>
                <a:spcPts val="994"/>
              </a:spcBef>
            </a:pPr>
            <a:r>
              <a:rPr lang="en-GB" b="0" spc="-5" dirty="0">
                <a:solidFill>
                  <a:srgbClr val="000000"/>
                </a:solidFill>
              </a:rPr>
              <a:t>(19-Arid-037</a:t>
            </a:r>
            <a:r>
              <a:rPr lang="en-GB" b="0" spc="-5" dirty="0" smtClean="0">
                <a:solidFill>
                  <a:srgbClr val="000000"/>
                </a:solidFill>
              </a:rPr>
              <a:t>)</a:t>
            </a:r>
            <a:endParaRPr b="0" spc="-5" dirty="0">
              <a:solidFill>
                <a:srgbClr val="000000"/>
              </a:solidFill>
              <a:latin typeface="Times New Roman"/>
              <a:cs typeface="Times New Roman"/>
            </a:endParaRPr>
          </a:p>
          <a:p>
            <a:pPr marL="676275" marR="622300" algn="ctr">
              <a:lnSpc>
                <a:spcPct val="100000"/>
              </a:lnSpc>
              <a:spcBef>
                <a:spcPts val="195"/>
              </a:spcBef>
            </a:pPr>
            <a:r>
              <a:rPr sz="1600" spc="-5" dirty="0" smtClean="0">
                <a:solidFill>
                  <a:srgbClr val="000000"/>
                </a:solidFill>
              </a:rPr>
              <a:t>(</a:t>
            </a:r>
            <a:r>
              <a:rPr sz="1600" spc="-5" dirty="0">
                <a:solidFill>
                  <a:srgbClr val="000000"/>
                </a:solidFill>
              </a:rPr>
              <a:t>Date: </a:t>
            </a:r>
            <a:r>
              <a:rPr lang="en-GB" sz="1600" spc="-5" dirty="0">
                <a:solidFill>
                  <a:srgbClr val="000000"/>
                </a:solidFill>
              </a:rPr>
              <a:t>04</a:t>
            </a:r>
            <a:r>
              <a:rPr sz="1600" spc="-5" dirty="0" smtClean="0">
                <a:solidFill>
                  <a:srgbClr val="000000"/>
                </a:solidFill>
              </a:rPr>
              <a:t>/</a:t>
            </a:r>
            <a:r>
              <a:rPr lang="en-GB" sz="1600" spc="-5" dirty="0" smtClean="0">
                <a:solidFill>
                  <a:srgbClr val="000000"/>
                </a:solidFill>
              </a:rPr>
              <a:t>03</a:t>
            </a:r>
            <a:r>
              <a:rPr sz="1600" spc="-5" dirty="0" smtClean="0">
                <a:solidFill>
                  <a:srgbClr val="000000"/>
                </a:solidFill>
              </a:rPr>
              <a:t>/2021</a:t>
            </a:r>
            <a:r>
              <a:rPr sz="1600" spc="-5" dirty="0">
                <a:solidFill>
                  <a:srgbClr val="000000"/>
                </a:solidFill>
              </a:rPr>
              <a:t>)</a:t>
            </a:r>
            <a:endParaRPr lang="en-US" sz="1600" dirty="0"/>
          </a:p>
          <a:p>
            <a:pPr marL="676275" marR="622300" algn="ctr">
              <a:lnSpc>
                <a:spcPct val="100000"/>
              </a:lnSpc>
              <a:spcBef>
                <a:spcPts val="195"/>
              </a:spcBef>
            </a:pPr>
            <a:r>
              <a:rPr spc="-5" dirty="0">
                <a:solidFill>
                  <a:srgbClr val="000000"/>
                </a:solidFill>
              </a:rPr>
              <a:t>Supervisor: </a:t>
            </a:r>
            <a:r>
              <a:rPr lang="en-US" spc="-5" dirty="0" smtClean="0">
                <a:solidFill>
                  <a:srgbClr val="3A8C6B"/>
                </a:solidFill>
                <a:uFill>
                  <a:solidFill>
                    <a:srgbClr val="006FC0"/>
                  </a:solidFill>
                </a:uFill>
              </a:rPr>
              <a:t>M</a:t>
            </a:r>
            <a:r>
              <a:rPr lang="en-US" spc="-5" dirty="0">
                <a:solidFill>
                  <a:srgbClr val="3A8C6B"/>
                </a:solidFill>
                <a:uFill>
                  <a:solidFill>
                    <a:srgbClr val="006FC0"/>
                  </a:solidFill>
                </a:uFill>
              </a:rPr>
              <a:t>s</a:t>
            </a:r>
            <a:r>
              <a:rPr lang="en-US" spc="-5" dirty="0" smtClean="0">
                <a:solidFill>
                  <a:srgbClr val="3A8C6B"/>
                </a:solidFill>
                <a:uFill>
                  <a:solidFill>
                    <a:srgbClr val="006FC0"/>
                  </a:solidFill>
                </a:uFill>
              </a:rPr>
              <a:t>. </a:t>
            </a:r>
            <a:r>
              <a:rPr lang="en-US" spc="-5" dirty="0" err="1" smtClean="0">
                <a:solidFill>
                  <a:srgbClr val="3A8C6B"/>
                </a:solidFill>
                <a:uFill>
                  <a:solidFill>
                    <a:srgbClr val="006FC0"/>
                  </a:solidFill>
                </a:uFill>
              </a:rPr>
              <a:t>Fakhar</a:t>
            </a:r>
            <a:r>
              <a:rPr lang="en-US" spc="-5" dirty="0" smtClean="0">
                <a:solidFill>
                  <a:srgbClr val="3A8C6B"/>
                </a:solidFill>
                <a:uFill>
                  <a:solidFill>
                    <a:srgbClr val="006FC0"/>
                  </a:solidFill>
                </a:uFill>
              </a:rPr>
              <a:t> Un Nisa</a:t>
            </a:r>
            <a:endParaRPr spc="-5" dirty="0">
              <a:solidFill>
                <a:srgbClr val="3A8C6B"/>
              </a:solidFill>
              <a:uFill>
                <a:solidFill>
                  <a:srgbClr val="006FC0"/>
                </a:solidFill>
              </a:uFill>
            </a:endParaRPr>
          </a:p>
          <a:p>
            <a:pPr marL="676275" marR="10160" algn="ctr">
              <a:lnSpc>
                <a:spcPct val="100000"/>
              </a:lnSpc>
              <a:spcBef>
                <a:spcPts val="595"/>
              </a:spcBef>
            </a:pPr>
            <a:r>
              <a:rPr sz="1600" b="0" spc="-5" dirty="0">
                <a:solidFill>
                  <a:srgbClr val="000000"/>
                </a:solidFill>
                <a:latin typeface="Times New Roman"/>
                <a:cs typeface="Times New Roman"/>
              </a:rPr>
              <a:t>Department of Computer</a:t>
            </a:r>
            <a:r>
              <a:rPr sz="1600" b="0" spc="5" dirty="0">
                <a:solidFill>
                  <a:srgbClr val="000000"/>
                </a:solidFill>
                <a:latin typeface="Times New Roman"/>
                <a:cs typeface="Times New Roman"/>
              </a:rPr>
              <a:t> </a:t>
            </a:r>
            <a:r>
              <a:rPr sz="1600" b="0" spc="-5" dirty="0">
                <a:solidFill>
                  <a:srgbClr val="000000"/>
                </a:solidFill>
                <a:latin typeface="Times New Roman"/>
                <a:cs typeface="Times New Roman"/>
              </a:rPr>
              <a:t>Science</a:t>
            </a:r>
            <a:endParaRPr sz="1600" dirty="0">
              <a:latin typeface="Times New Roman"/>
              <a:cs typeface="Times New Roman"/>
            </a:endParaRPr>
          </a:p>
          <a:p>
            <a:pPr marL="676275" algn="ctr">
              <a:lnSpc>
                <a:spcPct val="100000"/>
              </a:lnSpc>
              <a:spcBef>
                <a:spcPts val="570"/>
              </a:spcBef>
            </a:pPr>
            <a:r>
              <a:rPr lang="en-US" sz="2000" dirty="0" err="1" smtClean="0">
                <a:solidFill>
                  <a:srgbClr val="000000"/>
                </a:solidFill>
              </a:rPr>
              <a:t>Barani</a:t>
            </a:r>
            <a:r>
              <a:rPr lang="en-US" sz="2000" dirty="0" smtClean="0">
                <a:solidFill>
                  <a:srgbClr val="000000"/>
                </a:solidFill>
              </a:rPr>
              <a:t> Institute of Management Sciences, Rawalpindi</a:t>
            </a:r>
            <a:endParaRPr sz="2000" dirty="0"/>
          </a:p>
        </p:txBody>
      </p:sp>
      <p:sp>
        <p:nvSpPr>
          <p:cNvPr id="8" name="Footer Placeholder 7">
            <a:extLst>
              <a:ext uri="{FF2B5EF4-FFF2-40B4-BE49-F238E27FC236}">
                <a16:creationId xmlns="" xmlns:a16="http://schemas.microsoft.com/office/drawing/2014/main" id="{7E4D364E-C2C4-4992-A9EE-6524CA64BF4A}"/>
              </a:ext>
            </a:extLst>
          </p:cNvPr>
          <p:cNvSpPr>
            <a:spLocks noGrp="1"/>
          </p:cNvSpPr>
          <p:nvPr>
            <p:ph type="ftr" sz="quarter" idx="5"/>
          </p:nvPr>
        </p:nvSpPr>
        <p:spPr>
          <a:xfrm>
            <a:off x="2835910" y="6324600"/>
            <a:ext cx="6284595" cy="361574"/>
          </a:xfrm>
        </p:spPr>
        <p:txBody>
          <a:bodyPr/>
          <a:lstStyle/>
          <a:p>
            <a:pPr algn="ctr">
              <a:lnSpc>
                <a:spcPts val="1435"/>
              </a:lnSpc>
            </a:pPr>
            <a:r>
              <a:rPr lang="en-US" dirty="0" smtClean="0"/>
              <a:t>FYP Presentation 1, Department </a:t>
            </a:r>
            <a:r>
              <a:rPr lang="en-US" dirty="0"/>
              <a:t>of Computer Science, </a:t>
            </a:r>
            <a:r>
              <a:rPr lang="en-US" dirty="0" err="1" smtClean="0"/>
              <a:t>Barani</a:t>
            </a:r>
            <a:r>
              <a:rPr lang="en-US" dirty="0" smtClean="0"/>
              <a:t> Institute of Management Sciences, Rawalpindi </a:t>
            </a:r>
            <a:endParaRPr lang="en-US" spc="-5" dirty="0"/>
          </a:p>
        </p:txBody>
      </p:sp>
      <p:pic>
        <p:nvPicPr>
          <p:cNvPr id="10" name="Picture 9"/>
          <p:cNvPicPr/>
          <p:nvPr/>
        </p:nvPicPr>
        <p:blipFill>
          <a:blip r:embed="rId3" cstate="print">
            <a:extLst>
              <a:ext uri="{28A0092B-C50C-407E-A947-70E740481C1C}">
                <a14:useLocalDpi xmlns:a14="http://schemas.microsoft.com/office/drawing/2010/main" val="0"/>
              </a:ext>
            </a:extLst>
          </a:blip>
          <a:stretch>
            <a:fillRect/>
          </a:stretch>
        </p:blipFill>
        <p:spPr bwMode="auto">
          <a:xfrm rot="10800000" flipH="1" flipV="1">
            <a:off x="10421616" y="5334000"/>
            <a:ext cx="1465584" cy="138684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object 3"/>
          <p:cNvSpPr/>
          <p:nvPr/>
        </p:nvSpPr>
        <p:spPr>
          <a:xfrm>
            <a:off x="2472182" y="6254191"/>
            <a:ext cx="7009765" cy="527685"/>
          </a:xfrm>
          <a:custGeom>
            <a:avLst/>
            <a:gdLst/>
            <a:ahLst/>
            <a:cxnLst/>
            <a:rect l="l" t="t" r="r" b="b"/>
            <a:pathLst>
              <a:path w="7009765" h="527684">
                <a:moveTo>
                  <a:pt x="0" y="527303"/>
                </a:moveTo>
                <a:lnTo>
                  <a:pt x="7009510" y="527303"/>
                </a:lnTo>
                <a:lnTo>
                  <a:pt x="7009510" y="0"/>
                </a:lnTo>
                <a:lnTo>
                  <a:pt x="0" y="0"/>
                </a:lnTo>
                <a:lnTo>
                  <a:pt x="0" y="527303"/>
                </a:lnTo>
                <a:close/>
              </a:path>
            </a:pathLst>
          </a:custGeom>
          <a:solidFill>
            <a:srgbClr val="1D9A78"/>
          </a:solidFill>
        </p:spPr>
        <p:txBody>
          <a:bodyPr wrap="square" lIns="0" tIns="0" rIns="0" bIns="0" rtlCol="0"/>
          <a:lstStyle/>
          <a:p>
            <a:endParaRPr/>
          </a:p>
        </p:txBody>
      </p:sp>
      <p:sp>
        <p:nvSpPr>
          <p:cNvPr id="18" name="object 4"/>
          <p:cNvSpPr/>
          <p:nvPr/>
        </p:nvSpPr>
        <p:spPr>
          <a:xfrm>
            <a:off x="2539238" y="6254191"/>
            <a:ext cx="6875780" cy="216535"/>
          </a:xfrm>
          <a:custGeom>
            <a:avLst/>
            <a:gdLst/>
            <a:ahLst/>
            <a:cxnLst/>
            <a:rect l="l" t="t" r="r" b="b"/>
            <a:pathLst>
              <a:path w="6875780" h="216535">
                <a:moveTo>
                  <a:pt x="0" y="216407"/>
                </a:moveTo>
                <a:lnTo>
                  <a:pt x="6875398" y="216407"/>
                </a:lnTo>
                <a:lnTo>
                  <a:pt x="6875398" y="0"/>
                </a:lnTo>
                <a:lnTo>
                  <a:pt x="0" y="0"/>
                </a:lnTo>
                <a:lnTo>
                  <a:pt x="0" y="216407"/>
                </a:lnTo>
                <a:close/>
              </a:path>
            </a:pathLst>
          </a:custGeom>
          <a:solidFill>
            <a:srgbClr val="1D9A78"/>
          </a:solidFill>
        </p:spPr>
        <p:txBody>
          <a:bodyPr wrap="square" lIns="0" tIns="0" rIns="0" bIns="0" rtlCol="0"/>
          <a:lstStyle/>
          <a:p>
            <a:endParaRPr/>
          </a:p>
        </p:txBody>
      </p:sp>
      <p:sp>
        <p:nvSpPr>
          <p:cNvPr id="19" name="object 5"/>
          <p:cNvSpPr/>
          <p:nvPr/>
        </p:nvSpPr>
        <p:spPr>
          <a:xfrm>
            <a:off x="2539238" y="6470599"/>
            <a:ext cx="6875780" cy="218440"/>
          </a:xfrm>
          <a:custGeom>
            <a:avLst/>
            <a:gdLst/>
            <a:ahLst/>
            <a:cxnLst/>
            <a:rect l="l" t="t" r="r" b="b"/>
            <a:pathLst>
              <a:path w="6875780" h="218440">
                <a:moveTo>
                  <a:pt x="0" y="217932"/>
                </a:moveTo>
                <a:lnTo>
                  <a:pt x="6875398" y="217932"/>
                </a:lnTo>
                <a:lnTo>
                  <a:pt x="6875398" y="0"/>
                </a:lnTo>
                <a:lnTo>
                  <a:pt x="0" y="0"/>
                </a:lnTo>
                <a:lnTo>
                  <a:pt x="0" y="217932"/>
                </a:lnTo>
                <a:close/>
              </a:path>
            </a:pathLst>
          </a:custGeom>
          <a:solidFill>
            <a:srgbClr val="1D9A78"/>
          </a:solidFill>
        </p:spPr>
        <p:txBody>
          <a:bodyPr wrap="square" lIns="0" tIns="0" rIns="0" bIns="0" rtlCol="0"/>
          <a:lstStyle/>
          <a:p>
            <a:endParaRPr/>
          </a:p>
        </p:txBody>
      </p:sp>
      <p:sp>
        <p:nvSpPr>
          <p:cNvPr id="20" name="object 6"/>
          <p:cNvSpPr/>
          <p:nvPr/>
        </p:nvSpPr>
        <p:spPr>
          <a:xfrm>
            <a:off x="2472182" y="6162751"/>
            <a:ext cx="7009765" cy="12700"/>
          </a:xfrm>
          <a:custGeom>
            <a:avLst/>
            <a:gdLst/>
            <a:ahLst/>
            <a:cxnLst/>
            <a:rect l="l" t="t" r="r" b="b"/>
            <a:pathLst>
              <a:path w="7009765" h="12700">
                <a:moveTo>
                  <a:pt x="0" y="12191"/>
                </a:moveTo>
                <a:lnTo>
                  <a:pt x="7009510" y="12191"/>
                </a:lnTo>
                <a:lnTo>
                  <a:pt x="7009510" y="0"/>
                </a:lnTo>
                <a:lnTo>
                  <a:pt x="0" y="0"/>
                </a:lnTo>
                <a:lnTo>
                  <a:pt x="0" y="12191"/>
                </a:lnTo>
                <a:close/>
              </a:path>
            </a:pathLst>
          </a:custGeom>
          <a:solidFill>
            <a:srgbClr val="126F55"/>
          </a:solidFill>
        </p:spPr>
        <p:txBody>
          <a:bodyPr wrap="square" lIns="0" tIns="0" rIns="0" bIns="0" rtlCol="0"/>
          <a:lstStyle/>
          <a:p>
            <a:endParaRPr/>
          </a:p>
        </p:txBody>
      </p:sp>
      <p:sp>
        <p:nvSpPr>
          <p:cNvPr id="21" name="object 7"/>
          <p:cNvSpPr/>
          <p:nvPr/>
        </p:nvSpPr>
        <p:spPr>
          <a:xfrm>
            <a:off x="2472182" y="6174943"/>
            <a:ext cx="7009765" cy="79375"/>
          </a:xfrm>
          <a:custGeom>
            <a:avLst/>
            <a:gdLst/>
            <a:ahLst/>
            <a:cxnLst/>
            <a:rect l="l" t="t" r="r" b="b"/>
            <a:pathLst>
              <a:path w="7009765" h="79375">
                <a:moveTo>
                  <a:pt x="0" y="79247"/>
                </a:moveTo>
                <a:lnTo>
                  <a:pt x="7009510" y="79247"/>
                </a:lnTo>
                <a:lnTo>
                  <a:pt x="7009510" y="0"/>
                </a:lnTo>
                <a:lnTo>
                  <a:pt x="0" y="0"/>
                </a:lnTo>
                <a:lnTo>
                  <a:pt x="0" y="79247"/>
                </a:lnTo>
                <a:close/>
              </a:path>
            </a:pathLst>
          </a:custGeom>
          <a:solidFill>
            <a:srgbClr val="1D9A78"/>
          </a:solidFill>
        </p:spPr>
        <p:txBody>
          <a:bodyPr wrap="square" lIns="0" tIns="0" rIns="0" bIns="0" rtlCol="0"/>
          <a:lstStyle/>
          <a:p>
            <a:endParaRPr/>
          </a:p>
        </p:txBody>
      </p:sp>
      <p:sp>
        <p:nvSpPr>
          <p:cNvPr id="22" name="object 8"/>
          <p:cNvSpPr/>
          <p:nvPr/>
        </p:nvSpPr>
        <p:spPr>
          <a:xfrm>
            <a:off x="2466086"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a:endParaRPr/>
          </a:p>
        </p:txBody>
      </p:sp>
      <p:sp>
        <p:nvSpPr>
          <p:cNvPr id="23" name="object 9"/>
          <p:cNvSpPr/>
          <p:nvPr/>
        </p:nvSpPr>
        <p:spPr>
          <a:xfrm>
            <a:off x="2472182" y="6781494"/>
            <a:ext cx="7009765" cy="12700"/>
          </a:xfrm>
          <a:custGeom>
            <a:avLst/>
            <a:gdLst/>
            <a:ahLst/>
            <a:cxnLst/>
            <a:rect l="l" t="t" r="r" b="b"/>
            <a:pathLst>
              <a:path w="7009765" h="12700">
                <a:moveTo>
                  <a:pt x="0" y="12192"/>
                </a:moveTo>
                <a:lnTo>
                  <a:pt x="7009510" y="12192"/>
                </a:lnTo>
                <a:lnTo>
                  <a:pt x="7009510" y="0"/>
                </a:lnTo>
                <a:lnTo>
                  <a:pt x="0" y="0"/>
                </a:lnTo>
                <a:lnTo>
                  <a:pt x="0" y="12192"/>
                </a:lnTo>
                <a:close/>
              </a:path>
            </a:pathLst>
          </a:custGeom>
          <a:solidFill>
            <a:srgbClr val="126F55"/>
          </a:solidFill>
        </p:spPr>
        <p:txBody>
          <a:bodyPr wrap="square" lIns="0" tIns="0" rIns="0" bIns="0" rtlCol="0"/>
          <a:lstStyle/>
          <a:p>
            <a:endParaRPr/>
          </a:p>
        </p:txBody>
      </p:sp>
      <p:sp>
        <p:nvSpPr>
          <p:cNvPr id="24" name="object 10"/>
          <p:cNvSpPr/>
          <p:nvPr/>
        </p:nvSpPr>
        <p:spPr>
          <a:xfrm>
            <a:off x="9487789"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a:endParaRPr/>
          </a:p>
        </p:txBody>
      </p:sp>
      <p:sp>
        <p:nvSpPr>
          <p:cNvPr id="25" name="object 11"/>
          <p:cNvSpPr txBox="1">
            <a:spLocks noGrp="1"/>
          </p:cNvSpPr>
          <p:nvPr>
            <p:ph type="title"/>
          </p:nvPr>
        </p:nvSpPr>
        <p:spPr>
          <a:xfrm>
            <a:off x="4495800" y="479229"/>
            <a:ext cx="5943600" cy="629018"/>
          </a:xfrm>
          <a:prstGeom prst="rect">
            <a:avLst/>
          </a:prstGeom>
        </p:spPr>
        <p:txBody>
          <a:bodyPr vert="horz" wrap="square" lIns="0" tIns="13335" rIns="0" bIns="0" rtlCol="0">
            <a:spAutoFit/>
          </a:bodyPr>
          <a:lstStyle/>
          <a:p>
            <a:pPr marL="12700">
              <a:lnSpc>
                <a:spcPct val="100000"/>
              </a:lnSpc>
              <a:spcBef>
                <a:spcPts val="105"/>
              </a:spcBef>
            </a:pPr>
            <a:r>
              <a:rPr sz="4000" dirty="0"/>
              <a:t>Introduction</a:t>
            </a:r>
            <a:r>
              <a:rPr lang="en-US" sz="4000" dirty="0"/>
              <a:t> </a:t>
            </a:r>
            <a:endParaRPr sz="4000" dirty="0"/>
          </a:p>
        </p:txBody>
      </p:sp>
      <p:sp>
        <p:nvSpPr>
          <p:cNvPr id="27" name="object 12"/>
          <p:cNvSpPr txBox="1"/>
          <p:nvPr/>
        </p:nvSpPr>
        <p:spPr>
          <a:xfrm>
            <a:off x="685800" y="1524000"/>
            <a:ext cx="10896600" cy="3182922"/>
          </a:xfrm>
          <a:prstGeom prst="rect">
            <a:avLst/>
          </a:prstGeom>
        </p:spPr>
        <p:txBody>
          <a:bodyPr vert="horz" wrap="square" lIns="0" tIns="104139" rIns="0" bIns="0" rtlCol="0">
            <a:spAutoFit/>
          </a:bodyPr>
          <a:lstStyle/>
          <a:p>
            <a:pPr marL="241300" indent="-228600" algn="just">
              <a:lnSpc>
                <a:spcPct val="100000"/>
              </a:lnSpc>
              <a:spcBef>
                <a:spcPts val="819"/>
              </a:spcBef>
              <a:buFont typeface="Symbol"/>
              <a:buChar char=""/>
              <a:tabLst>
                <a:tab pos="241300" algn="l"/>
              </a:tabLst>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era, the internet is one of the main sources of news which include different social media platforms and websites. Nowadays people are very busy with different regular works that’s why they are relying on online news because these platforms are considered a fast and easy source of information</a:t>
            </a:r>
            <a:r>
              <a:rPr lang="en-US" dirty="0" smtClean="0">
                <a:latin typeface="Times New Roman" panose="02020603050405020304" pitchFamily="18" charset="0"/>
                <a:cs typeface="Times New Roman" panose="02020603050405020304" pitchFamily="18" charset="0"/>
              </a:rPr>
              <a:t>.</a:t>
            </a:r>
          </a:p>
          <a:p>
            <a:pPr marL="241300" indent="-228600" algn="just">
              <a:lnSpc>
                <a:spcPct val="100000"/>
              </a:lnSpc>
              <a:spcBef>
                <a:spcPts val="819"/>
              </a:spcBef>
              <a:buFont typeface="Symbol"/>
              <a:buChar char=""/>
              <a:tabLst>
                <a:tab pos="241300" algn="l"/>
              </a:tabLst>
            </a:pPr>
            <a:r>
              <a:rPr lang="en-US" dirty="0">
                <a:latin typeface="Times New Roman" panose="02020603050405020304" pitchFamily="18" charset="0"/>
                <a:cs typeface="Times New Roman" panose="02020603050405020304" pitchFamily="18" charset="0"/>
              </a:rPr>
              <a:t>Social media such as Facebook and Twitter are at the peak position of usage these days. People use them for various reasons, for example, entertainment, democracy, learning, health tips, online shopping, weather forecast, to see top trending news, and much </a:t>
            </a:r>
            <a:r>
              <a:rPr lang="en-US" dirty="0" smtClean="0">
                <a:latin typeface="Times New Roman" panose="02020603050405020304" pitchFamily="18" charset="0"/>
                <a:cs typeface="Times New Roman" panose="02020603050405020304" pitchFamily="18" charset="0"/>
              </a:rPr>
              <a:t>more [1].</a:t>
            </a:r>
          </a:p>
          <a:p>
            <a:pPr marL="241300" indent="-228600" algn="just">
              <a:lnSpc>
                <a:spcPct val="100000"/>
              </a:lnSpc>
              <a:spcBef>
                <a:spcPts val="819"/>
              </a:spcBef>
              <a:buFont typeface="Symbol"/>
              <a:buChar char=""/>
              <a:tabLst>
                <a:tab pos="241300" algn="l"/>
              </a:tabLst>
            </a:pPr>
            <a:r>
              <a:rPr lang="en-US" dirty="0">
                <a:latin typeface="Times New Roman" panose="02020603050405020304" pitchFamily="18" charset="0"/>
                <a:cs typeface="Times New Roman" panose="02020603050405020304" pitchFamily="18" charset="0"/>
              </a:rPr>
              <a:t>The existing research proposed techniques that are mostly based on Natural Language Processing. </a:t>
            </a:r>
            <a:r>
              <a:rPr lang="en-US" dirty="0" smtClean="0">
                <a:latin typeface="Times New Roman" panose="02020603050405020304" pitchFamily="18" charset="0"/>
                <a:cs typeface="Times New Roman" panose="02020603050405020304" pitchFamily="18" charset="0"/>
              </a:rPr>
              <a:t>‘Human-like </a:t>
            </a:r>
            <a:r>
              <a:rPr lang="en-US" dirty="0">
                <a:latin typeface="Times New Roman" panose="02020603050405020304" pitchFamily="18" charset="0"/>
                <a:cs typeface="Times New Roman" panose="02020603050405020304" pitchFamily="18" charset="0"/>
              </a:rPr>
              <a:t>Language Processing’ reveals that NLP is considered a discipline within Artificial </a:t>
            </a:r>
            <a:r>
              <a:rPr lang="en-US" dirty="0" smtClean="0">
                <a:latin typeface="Times New Roman" panose="02020603050405020304" pitchFamily="18" charset="0"/>
                <a:cs typeface="Times New Roman" panose="02020603050405020304" pitchFamily="18" charset="0"/>
              </a:rPr>
              <a:t>Intelligence [8].</a:t>
            </a:r>
          </a:p>
          <a:p>
            <a:pPr marL="241300" indent="-228600" algn="just">
              <a:lnSpc>
                <a:spcPct val="100000"/>
              </a:lnSpc>
              <a:spcBef>
                <a:spcPts val="819"/>
              </a:spcBef>
              <a:buFont typeface="Symbol"/>
              <a:buChar char=""/>
              <a:tabLst>
                <a:tab pos="241300" algn="l"/>
              </a:tabLst>
            </a:pPr>
            <a:r>
              <a:rPr lang="en-US" dirty="0">
                <a:latin typeface="Times New Roman" panose="02020603050405020304" pitchFamily="18" charset="0"/>
                <a:cs typeface="Times New Roman" panose="02020603050405020304" pitchFamily="18" charset="0"/>
              </a:rPr>
              <a:t>In this research, the detection of the fake news is performed through a proposed model that is based on ensemble classifiers which are the combinations of different machine learning and deep learning models.</a:t>
            </a:r>
          </a:p>
        </p:txBody>
      </p:sp>
      <p:sp>
        <p:nvSpPr>
          <p:cNvPr id="2" name="Slide Number Placeholder 1">
            <a:extLst>
              <a:ext uri="{FF2B5EF4-FFF2-40B4-BE49-F238E27FC236}">
                <a16:creationId xmlns="" xmlns:a16="http://schemas.microsoft.com/office/drawing/2014/main" id="{C9FECA26-699A-485F-88D3-0B19E1B62848}"/>
              </a:ext>
            </a:extLst>
          </p:cNvPr>
          <p:cNvSpPr>
            <a:spLocks noGrp="1"/>
          </p:cNvSpPr>
          <p:nvPr>
            <p:ph type="sldNum" sz="quarter" idx="7"/>
          </p:nvPr>
        </p:nvSpPr>
        <p:spPr/>
        <p:txBody>
          <a:bodyPr/>
          <a:lstStyle/>
          <a:p>
            <a:fld id="{B6F15528-21DE-4FAA-801E-634DDDAF4B2B}" type="slidenum">
              <a:rPr lang="x-none" smtClean="0"/>
              <a:t>2</a:t>
            </a:fld>
            <a:endParaRPr lang="x-none"/>
          </a:p>
        </p:txBody>
      </p:sp>
      <p:sp>
        <p:nvSpPr>
          <p:cNvPr id="30" name="Footer Placeholder 7">
            <a:extLst>
              <a:ext uri="{FF2B5EF4-FFF2-40B4-BE49-F238E27FC236}">
                <a16:creationId xmlns="" xmlns:a16="http://schemas.microsoft.com/office/drawing/2014/main" id="{7E4D364E-C2C4-4992-A9EE-6524CA64BF4A}"/>
              </a:ext>
            </a:extLst>
          </p:cNvPr>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00734" y="304800"/>
            <a:ext cx="8001000" cy="1244571"/>
          </a:xfrm>
          <a:prstGeom prst="rect">
            <a:avLst/>
          </a:prstGeom>
        </p:spPr>
        <p:txBody>
          <a:bodyPr vert="horz" wrap="square" lIns="0" tIns="13335" rIns="0" bIns="0" rtlCol="0">
            <a:spAutoFit/>
          </a:bodyPr>
          <a:lstStyle/>
          <a:p>
            <a:pPr marL="12700">
              <a:lnSpc>
                <a:spcPct val="100000"/>
              </a:lnSpc>
              <a:spcBef>
                <a:spcPts val="105"/>
              </a:spcBef>
            </a:pPr>
            <a:r>
              <a:rPr lang="en-US" sz="4000" dirty="0" smtClean="0"/>
              <a:t>Existing Systems</a:t>
            </a:r>
            <a:r>
              <a:rPr lang="en-US" sz="4000" spc="-5" dirty="0"/>
              <a:t/>
            </a:r>
            <a:br>
              <a:rPr lang="en-US" sz="4000" spc="-5" dirty="0"/>
            </a:br>
            <a:endParaRPr sz="4000" dirty="0"/>
          </a:p>
        </p:txBody>
      </p:sp>
      <p:sp>
        <p:nvSpPr>
          <p:cNvPr id="3" name="Slide Number Placeholder 2">
            <a:extLst>
              <a:ext uri="{FF2B5EF4-FFF2-40B4-BE49-F238E27FC236}">
                <a16:creationId xmlns="" xmlns:a16="http://schemas.microsoft.com/office/drawing/2014/main" id="{78B2883B-1BBD-4E10-A3AE-7748285E4F99}"/>
              </a:ext>
            </a:extLst>
          </p:cNvPr>
          <p:cNvSpPr>
            <a:spLocks noGrp="1"/>
          </p:cNvSpPr>
          <p:nvPr>
            <p:ph type="sldNum" sz="quarter" idx="7"/>
          </p:nvPr>
        </p:nvSpPr>
        <p:spPr/>
        <p:txBody>
          <a:bodyPr/>
          <a:lstStyle/>
          <a:p>
            <a:fld id="{B6F15528-21DE-4FAA-801E-634DDDAF4B2B}" type="slidenum">
              <a:rPr lang="x-none" smtClean="0"/>
              <a:t>3</a:t>
            </a:fld>
            <a:endParaRPr lang="x-none"/>
          </a:p>
        </p:txBody>
      </p:sp>
      <p:sp>
        <p:nvSpPr>
          <p:cNvPr id="6" name="Footer Placeholder 7">
            <a:extLst>
              <a:ext uri="{FF2B5EF4-FFF2-40B4-BE49-F238E27FC236}">
                <a16:creationId xmlns="" xmlns:a16="http://schemas.microsoft.com/office/drawing/2014/main" id="{7E4D364E-C2C4-4992-A9EE-6524CA64BF4A}"/>
              </a:ext>
            </a:extLst>
          </p:cNvPr>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graphicFrame>
        <p:nvGraphicFramePr>
          <p:cNvPr id="7" name="Table 6"/>
          <p:cNvGraphicFramePr>
            <a:graphicFrameLocks noGrp="1"/>
          </p:cNvGraphicFramePr>
          <p:nvPr>
            <p:extLst>
              <p:ext uri="{D42A27DB-BD31-4B8C-83A1-F6EECF244321}">
                <p14:modId xmlns:p14="http://schemas.microsoft.com/office/powerpoint/2010/main" val="1077921232"/>
              </p:ext>
            </p:extLst>
          </p:nvPr>
        </p:nvGraphicFramePr>
        <p:xfrm>
          <a:off x="1219199" y="3047464"/>
          <a:ext cx="9982200" cy="1951596"/>
        </p:xfrm>
        <a:graphic>
          <a:graphicData uri="http://schemas.openxmlformats.org/drawingml/2006/table">
            <a:tbl>
              <a:tblPr firstRow="1" firstCol="1" bandRow="1">
                <a:tableStyleId>{5C22544A-7EE6-4342-B048-85BDC9FD1C3A}</a:tableStyleId>
              </a:tblPr>
              <a:tblGrid>
                <a:gridCol w="3327400"/>
                <a:gridCol w="3327400"/>
                <a:gridCol w="3327400"/>
              </a:tblGrid>
              <a:tr h="650532">
                <a:tc>
                  <a:txBody>
                    <a:bodyPr/>
                    <a:lstStyle/>
                    <a:p>
                      <a:pPr marL="0" marR="0" algn="ctr">
                        <a:spcBef>
                          <a:spcPts val="0"/>
                        </a:spcBef>
                        <a:spcAft>
                          <a:spcPts val="0"/>
                        </a:spcAft>
                      </a:pPr>
                      <a:r>
                        <a:rPr lang="en-US" sz="1200" dirty="0">
                          <a:effectLst/>
                          <a:latin typeface="Times New Roman" panose="02020603050405020304" pitchFamily="18" charset="0"/>
                          <a:cs typeface="Times New Roman" panose="02020603050405020304" pitchFamily="18" charset="0"/>
                        </a:rPr>
                        <a:t>Existing System</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3A8C6B"/>
                    </a:solidFill>
                  </a:tcPr>
                </a:tc>
                <a:tc>
                  <a:txBody>
                    <a:bodyPr/>
                    <a:lstStyle/>
                    <a:p>
                      <a:pPr marL="0" marR="0" algn="ctr">
                        <a:spcBef>
                          <a:spcPts val="0"/>
                        </a:spcBef>
                        <a:spcAft>
                          <a:spcPts val="0"/>
                        </a:spcAft>
                      </a:pPr>
                      <a:r>
                        <a:rPr lang="en-US" sz="1200" dirty="0">
                          <a:effectLst/>
                          <a:latin typeface="Times New Roman" panose="02020603050405020304" pitchFamily="18" charset="0"/>
                          <a:cs typeface="Times New Roman" panose="02020603050405020304" pitchFamily="18" charset="0"/>
                        </a:rPr>
                        <a:t>Limitations</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3A8C6B"/>
                    </a:solidFill>
                  </a:tcPr>
                </a:tc>
                <a:tc>
                  <a:txBody>
                    <a:bodyPr/>
                    <a:lstStyle/>
                    <a:p>
                      <a:pPr marL="0" marR="0" algn="ctr">
                        <a:spcBef>
                          <a:spcPts val="0"/>
                        </a:spcBef>
                        <a:spcAft>
                          <a:spcPts val="0"/>
                        </a:spcAft>
                      </a:pPr>
                      <a:r>
                        <a:rPr lang="en-US" sz="1200" dirty="0">
                          <a:effectLst/>
                          <a:latin typeface="Times New Roman" panose="02020603050405020304" pitchFamily="18" charset="0"/>
                          <a:cs typeface="Times New Roman" panose="02020603050405020304" pitchFamily="18" charset="0"/>
                        </a:rPr>
                        <a:t>Technology</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3A8C6B"/>
                    </a:solidFill>
                  </a:tcPr>
                </a:tc>
              </a:tr>
              <a:tr h="650532">
                <a:tc>
                  <a:txBody>
                    <a:bodyPr/>
                    <a:lstStyle/>
                    <a:p>
                      <a:pPr marL="0" marR="0" algn="ctr">
                        <a:spcBef>
                          <a:spcPts val="0"/>
                        </a:spcBef>
                        <a:spcAft>
                          <a:spcPts val="0"/>
                        </a:spcAft>
                      </a:pPr>
                      <a:r>
                        <a:rPr lang="en-US" sz="1200" dirty="0">
                          <a:effectLst/>
                          <a:latin typeface="Times New Roman" panose="02020603050405020304" pitchFamily="18" charset="0"/>
                          <a:cs typeface="Times New Roman" panose="02020603050405020304" pitchFamily="18" charset="0"/>
                        </a:rPr>
                        <a:t>Text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3A8C6B"/>
                    </a:solidFill>
                  </a:tcPr>
                </a:tc>
                <a:tc>
                  <a:txBody>
                    <a:bodyPr/>
                    <a:lstStyle/>
                    <a:p>
                      <a:pPr marL="0" marR="0" algn="ctr">
                        <a:spcBef>
                          <a:spcPts val="0"/>
                        </a:spcBef>
                        <a:spcAft>
                          <a:spcPts val="0"/>
                        </a:spcAft>
                      </a:pPr>
                      <a:r>
                        <a:rPr lang="en-US" sz="1200" dirty="0">
                          <a:effectLst/>
                          <a:latin typeface="Times New Roman" panose="02020603050405020304" pitchFamily="18" charset="0"/>
                          <a:cs typeface="Times New Roman" panose="02020603050405020304" pitchFamily="18" charset="0"/>
                        </a:rPr>
                        <a:t>Text</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3">
                        <a:lumMod val="40000"/>
                        <a:lumOff val="60000"/>
                      </a:schemeClr>
                    </a:solidFill>
                  </a:tcPr>
                </a:tc>
                <a:tc>
                  <a:txBody>
                    <a:bodyPr/>
                    <a:lstStyle/>
                    <a:p>
                      <a:pPr marL="0" marR="0" algn="ctr">
                        <a:spcBef>
                          <a:spcPts val="0"/>
                        </a:spcBef>
                        <a:spcAft>
                          <a:spcPts val="0"/>
                        </a:spcAft>
                      </a:pPr>
                      <a:r>
                        <a:rPr lang="en-US" sz="1200" dirty="0">
                          <a:effectLst/>
                          <a:latin typeface="Times New Roman" panose="02020603050405020304" pitchFamily="18" charset="0"/>
                          <a:cs typeface="Times New Roman" panose="02020603050405020304" pitchFamily="18" charset="0"/>
                        </a:rPr>
                        <a:t>Text</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3">
                        <a:lumMod val="40000"/>
                        <a:lumOff val="60000"/>
                      </a:schemeClr>
                    </a:solidFill>
                  </a:tcPr>
                </a:tc>
              </a:tr>
              <a:tr h="650532">
                <a:tc>
                  <a:txBody>
                    <a:bodyPr/>
                    <a:lstStyle/>
                    <a:p>
                      <a:pPr marL="0" marR="0" algn="ctr">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3A8C6B"/>
                    </a:solidFill>
                  </a:tcPr>
                </a:tc>
                <a:tc>
                  <a:txBody>
                    <a:bodyPr/>
                    <a:lstStyle/>
                    <a:p>
                      <a:pPr marL="0" marR="0" algn="ctr">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3">
                        <a:lumMod val="20000"/>
                        <a:lumOff val="80000"/>
                      </a:schemeClr>
                    </a:solidFill>
                  </a:tcPr>
                </a:tc>
                <a:tc>
                  <a:txBody>
                    <a:bodyPr/>
                    <a:lstStyle/>
                    <a:p>
                      <a:pPr marL="0" marR="0" algn="ctr">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chemeClr val="accent3">
                        <a:lumMod val="20000"/>
                        <a:lumOff val="80000"/>
                      </a:schemeClr>
                    </a:solidFill>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2472182" y="6254191"/>
            <a:ext cx="7009765" cy="527685"/>
          </a:xfrm>
          <a:custGeom>
            <a:avLst/>
            <a:gdLst/>
            <a:ahLst/>
            <a:cxnLst/>
            <a:rect l="l" t="t" r="r" b="b"/>
            <a:pathLst>
              <a:path w="7009765" h="527684">
                <a:moveTo>
                  <a:pt x="0" y="527303"/>
                </a:moveTo>
                <a:lnTo>
                  <a:pt x="7009510" y="527303"/>
                </a:lnTo>
                <a:lnTo>
                  <a:pt x="7009510" y="0"/>
                </a:lnTo>
                <a:lnTo>
                  <a:pt x="0" y="0"/>
                </a:lnTo>
                <a:lnTo>
                  <a:pt x="0" y="527303"/>
                </a:lnTo>
                <a:close/>
              </a:path>
            </a:pathLst>
          </a:custGeom>
          <a:solidFill>
            <a:srgbClr val="1D9A78"/>
          </a:solidFill>
        </p:spPr>
        <p:txBody>
          <a:bodyPr wrap="square" lIns="0" tIns="0" rIns="0" bIns="0" rtlCol="0"/>
          <a:lstStyle/>
          <a:p>
            <a:endParaRPr/>
          </a:p>
        </p:txBody>
      </p:sp>
      <p:sp>
        <p:nvSpPr>
          <p:cNvPr id="4" name="object 4"/>
          <p:cNvSpPr/>
          <p:nvPr/>
        </p:nvSpPr>
        <p:spPr>
          <a:xfrm>
            <a:off x="2539238" y="6254191"/>
            <a:ext cx="6875780" cy="216535"/>
          </a:xfrm>
          <a:custGeom>
            <a:avLst/>
            <a:gdLst/>
            <a:ahLst/>
            <a:cxnLst/>
            <a:rect l="l" t="t" r="r" b="b"/>
            <a:pathLst>
              <a:path w="6875780" h="216535">
                <a:moveTo>
                  <a:pt x="0" y="216407"/>
                </a:moveTo>
                <a:lnTo>
                  <a:pt x="6875398" y="216407"/>
                </a:lnTo>
                <a:lnTo>
                  <a:pt x="6875398" y="0"/>
                </a:lnTo>
                <a:lnTo>
                  <a:pt x="0" y="0"/>
                </a:lnTo>
                <a:lnTo>
                  <a:pt x="0" y="216407"/>
                </a:lnTo>
                <a:close/>
              </a:path>
            </a:pathLst>
          </a:custGeom>
          <a:solidFill>
            <a:srgbClr val="1D9A78"/>
          </a:solidFill>
        </p:spPr>
        <p:txBody>
          <a:bodyPr wrap="square" lIns="0" tIns="0" rIns="0" bIns="0" rtlCol="0"/>
          <a:lstStyle/>
          <a:p>
            <a:endParaRPr/>
          </a:p>
        </p:txBody>
      </p:sp>
      <p:sp>
        <p:nvSpPr>
          <p:cNvPr id="5" name="object 5"/>
          <p:cNvSpPr/>
          <p:nvPr/>
        </p:nvSpPr>
        <p:spPr>
          <a:xfrm>
            <a:off x="2539238" y="6470599"/>
            <a:ext cx="6875780" cy="218440"/>
          </a:xfrm>
          <a:custGeom>
            <a:avLst/>
            <a:gdLst/>
            <a:ahLst/>
            <a:cxnLst/>
            <a:rect l="l" t="t" r="r" b="b"/>
            <a:pathLst>
              <a:path w="6875780" h="218440">
                <a:moveTo>
                  <a:pt x="0" y="217932"/>
                </a:moveTo>
                <a:lnTo>
                  <a:pt x="6875398" y="217932"/>
                </a:lnTo>
                <a:lnTo>
                  <a:pt x="6875398" y="0"/>
                </a:lnTo>
                <a:lnTo>
                  <a:pt x="0" y="0"/>
                </a:lnTo>
                <a:lnTo>
                  <a:pt x="0" y="217932"/>
                </a:lnTo>
                <a:close/>
              </a:path>
            </a:pathLst>
          </a:custGeom>
          <a:solidFill>
            <a:srgbClr val="1D9A78"/>
          </a:solidFill>
        </p:spPr>
        <p:txBody>
          <a:bodyPr wrap="square" lIns="0" tIns="0" rIns="0" bIns="0" rtlCol="0"/>
          <a:lstStyle/>
          <a:p>
            <a:endParaRPr/>
          </a:p>
        </p:txBody>
      </p:sp>
      <p:sp>
        <p:nvSpPr>
          <p:cNvPr id="6" name="object 6"/>
          <p:cNvSpPr/>
          <p:nvPr/>
        </p:nvSpPr>
        <p:spPr>
          <a:xfrm>
            <a:off x="2472182" y="6162751"/>
            <a:ext cx="7009765" cy="12700"/>
          </a:xfrm>
          <a:custGeom>
            <a:avLst/>
            <a:gdLst/>
            <a:ahLst/>
            <a:cxnLst/>
            <a:rect l="l" t="t" r="r" b="b"/>
            <a:pathLst>
              <a:path w="7009765" h="12700">
                <a:moveTo>
                  <a:pt x="0" y="12191"/>
                </a:moveTo>
                <a:lnTo>
                  <a:pt x="7009510" y="12191"/>
                </a:lnTo>
                <a:lnTo>
                  <a:pt x="7009510" y="0"/>
                </a:lnTo>
                <a:lnTo>
                  <a:pt x="0" y="0"/>
                </a:lnTo>
                <a:lnTo>
                  <a:pt x="0" y="12191"/>
                </a:lnTo>
                <a:close/>
              </a:path>
            </a:pathLst>
          </a:custGeom>
          <a:solidFill>
            <a:srgbClr val="126F55"/>
          </a:solidFill>
        </p:spPr>
        <p:txBody>
          <a:bodyPr wrap="square" lIns="0" tIns="0" rIns="0" bIns="0" rtlCol="0"/>
          <a:lstStyle/>
          <a:p>
            <a:endParaRPr/>
          </a:p>
        </p:txBody>
      </p:sp>
      <p:sp>
        <p:nvSpPr>
          <p:cNvPr id="7" name="object 7"/>
          <p:cNvSpPr/>
          <p:nvPr/>
        </p:nvSpPr>
        <p:spPr>
          <a:xfrm>
            <a:off x="2472182" y="6174943"/>
            <a:ext cx="7009765" cy="79375"/>
          </a:xfrm>
          <a:custGeom>
            <a:avLst/>
            <a:gdLst/>
            <a:ahLst/>
            <a:cxnLst/>
            <a:rect l="l" t="t" r="r" b="b"/>
            <a:pathLst>
              <a:path w="7009765" h="79375">
                <a:moveTo>
                  <a:pt x="0" y="79247"/>
                </a:moveTo>
                <a:lnTo>
                  <a:pt x="7009510" y="79247"/>
                </a:lnTo>
                <a:lnTo>
                  <a:pt x="7009510" y="0"/>
                </a:lnTo>
                <a:lnTo>
                  <a:pt x="0" y="0"/>
                </a:lnTo>
                <a:lnTo>
                  <a:pt x="0" y="79247"/>
                </a:lnTo>
                <a:close/>
              </a:path>
            </a:pathLst>
          </a:custGeom>
          <a:solidFill>
            <a:srgbClr val="1D9A78"/>
          </a:solidFill>
        </p:spPr>
        <p:txBody>
          <a:bodyPr wrap="square" lIns="0" tIns="0" rIns="0" bIns="0" rtlCol="0"/>
          <a:lstStyle/>
          <a:p>
            <a:endParaRPr/>
          </a:p>
        </p:txBody>
      </p:sp>
      <p:sp>
        <p:nvSpPr>
          <p:cNvPr id="8" name="object 8"/>
          <p:cNvSpPr/>
          <p:nvPr/>
        </p:nvSpPr>
        <p:spPr>
          <a:xfrm>
            <a:off x="2466086"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a:endParaRPr/>
          </a:p>
        </p:txBody>
      </p:sp>
      <p:sp>
        <p:nvSpPr>
          <p:cNvPr id="9" name="object 9"/>
          <p:cNvSpPr/>
          <p:nvPr/>
        </p:nvSpPr>
        <p:spPr>
          <a:xfrm>
            <a:off x="2472182" y="6781494"/>
            <a:ext cx="7009765" cy="12700"/>
          </a:xfrm>
          <a:custGeom>
            <a:avLst/>
            <a:gdLst/>
            <a:ahLst/>
            <a:cxnLst/>
            <a:rect l="l" t="t" r="r" b="b"/>
            <a:pathLst>
              <a:path w="7009765" h="12700">
                <a:moveTo>
                  <a:pt x="0" y="12192"/>
                </a:moveTo>
                <a:lnTo>
                  <a:pt x="7009510" y="12192"/>
                </a:lnTo>
                <a:lnTo>
                  <a:pt x="7009510" y="0"/>
                </a:lnTo>
                <a:lnTo>
                  <a:pt x="0" y="0"/>
                </a:lnTo>
                <a:lnTo>
                  <a:pt x="0" y="12192"/>
                </a:lnTo>
                <a:close/>
              </a:path>
            </a:pathLst>
          </a:custGeom>
          <a:solidFill>
            <a:srgbClr val="126F55"/>
          </a:solidFill>
        </p:spPr>
        <p:txBody>
          <a:bodyPr wrap="square" lIns="0" tIns="0" rIns="0" bIns="0" rtlCol="0"/>
          <a:lstStyle/>
          <a:p>
            <a:endParaRPr/>
          </a:p>
        </p:txBody>
      </p:sp>
      <p:sp>
        <p:nvSpPr>
          <p:cNvPr id="10" name="object 10"/>
          <p:cNvSpPr/>
          <p:nvPr/>
        </p:nvSpPr>
        <p:spPr>
          <a:xfrm>
            <a:off x="9487789"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a:endParaRPr/>
          </a:p>
        </p:txBody>
      </p:sp>
      <p:sp>
        <p:nvSpPr>
          <p:cNvPr id="11" name="object 11"/>
          <p:cNvSpPr txBox="1">
            <a:spLocks noGrp="1"/>
          </p:cNvSpPr>
          <p:nvPr>
            <p:ph type="title"/>
          </p:nvPr>
        </p:nvSpPr>
        <p:spPr>
          <a:xfrm>
            <a:off x="3733800" y="342786"/>
            <a:ext cx="8201914" cy="690574"/>
          </a:xfrm>
          <a:prstGeom prst="rect">
            <a:avLst/>
          </a:prstGeom>
        </p:spPr>
        <p:txBody>
          <a:bodyPr vert="horz" wrap="square" lIns="0" tIns="13335" rIns="0" bIns="0" rtlCol="0">
            <a:spAutoFit/>
          </a:bodyPr>
          <a:lstStyle/>
          <a:p>
            <a:pPr marL="12700">
              <a:lnSpc>
                <a:spcPct val="100000"/>
              </a:lnSpc>
              <a:spcBef>
                <a:spcPts val="105"/>
              </a:spcBef>
            </a:pPr>
            <a:r>
              <a:rPr sz="4400" dirty="0"/>
              <a:t>Problem</a:t>
            </a:r>
            <a:r>
              <a:rPr sz="4400" spc="-60" dirty="0"/>
              <a:t> </a:t>
            </a:r>
            <a:r>
              <a:rPr lang="en-US" sz="4400" spc="-5" dirty="0"/>
              <a:t>S</a:t>
            </a:r>
            <a:r>
              <a:rPr sz="4400" spc="-5" dirty="0" smtClean="0"/>
              <a:t>tatement</a:t>
            </a:r>
            <a:endParaRPr sz="4400" dirty="0"/>
          </a:p>
        </p:txBody>
      </p:sp>
      <p:sp>
        <p:nvSpPr>
          <p:cNvPr id="12" name="object 12"/>
          <p:cNvSpPr txBox="1"/>
          <p:nvPr/>
        </p:nvSpPr>
        <p:spPr>
          <a:xfrm>
            <a:off x="654812" y="1251673"/>
            <a:ext cx="10851388" cy="5333063"/>
          </a:xfrm>
          <a:prstGeom prst="rect">
            <a:avLst/>
          </a:prstGeom>
        </p:spPr>
        <p:txBody>
          <a:bodyPr vert="horz" wrap="square" lIns="0" tIns="13335" rIns="0" bIns="0" rtlCol="0">
            <a:spAutoFit/>
          </a:bodyPr>
          <a:lstStyle/>
          <a:p>
            <a:pPr marL="12700" marR="5080" algn="just">
              <a:lnSpc>
                <a:spcPct val="143800"/>
              </a:lnSpc>
              <a:spcBef>
                <a:spcPts val="105"/>
              </a:spcBef>
            </a:pPr>
            <a:r>
              <a:rPr lang="en-US" sz="1600" dirty="0">
                <a:latin typeface="Times New Roman" panose="02020603050405020304" pitchFamily="18" charset="0"/>
                <a:cs typeface="Times New Roman" panose="02020603050405020304" pitchFamily="18" charset="0"/>
              </a:rPr>
              <a:t>Fake news are big challenges of all types of media, especially social media. The extensive spread of fake news has the potential for extremely negative impacts on individuals and society. It is very difficult to discriminate between real and fake news. To overcome this problem, several approaches have been proposed that include NLP-based technique [</a:t>
            </a:r>
            <a:r>
              <a:rPr lang="en-US" sz="1600" dirty="0" smtClean="0">
                <a:latin typeface="Times New Roman" panose="02020603050405020304" pitchFamily="18" charset="0"/>
                <a:cs typeface="Times New Roman" panose="02020603050405020304" pitchFamily="18" charset="0"/>
              </a:rPr>
              <a:t>13], </a:t>
            </a:r>
            <a:r>
              <a:rPr lang="en-US" sz="1600" dirty="0">
                <a:latin typeface="Times New Roman" panose="02020603050405020304" pitchFamily="18" charset="0"/>
                <a:cs typeface="Times New Roman" panose="02020603050405020304" pitchFamily="18" charset="0"/>
              </a:rPr>
              <a:t>CNN and RNN based deep learning technique [</a:t>
            </a:r>
            <a:r>
              <a:rPr lang="en-US" sz="1600" dirty="0" smtClean="0">
                <a:latin typeface="Times New Roman" panose="02020603050405020304" pitchFamily="18" charset="0"/>
                <a:cs typeface="Times New Roman" panose="02020603050405020304" pitchFamily="18" charset="0"/>
              </a:rPr>
              <a:t>32], </a:t>
            </a:r>
            <a:r>
              <a:rPr lang="en-US" sz="1600" dirty="0">
                <a:latin typeface="Times New Roman" panose="02020603050405020304" pitchFamily="18" charset="0"/>
                <a:cs typeface="Times New Roman" panose="02020603050405020304" pitchFamily="18" charset="0"/>
              </a:rPr>
              <a:t>and robust technique using the voting classifier [</a:t>
            </a:r>
            <a:r>
              <a:rPr lang="en-US" sz="1600" dirty="0" smtClean="0">
                <a:latin typeface="Times New Roman" panose="02020603050405020304" pitchFamily="18" charset="0"/>
                <a:cs typeface="Times New Roman" panose="02020603050405020304" pitchFamily="18" charset="0"/>
              </a:rPr>
              <a:t>31]. </a:t>
            </a:r>
            <a:r>
              <a:rPr lang="en-US" sz="1600" dirty="0">
                <a:solidFill>
                  <a:srgbClr val="FF0000"/>
                </a:solidFill>
                <a:latin typeface="Times New Roman" panose="02020603050405020304" pitchFamily="18" charset="0"/>
                <a:cs typeface="Times New Roman" panose="02020603050405020304" pitchFamily="18" charset="0"/>
              </a:rPr>
              <a:t>However, the proposed approaches are not effective for reducing data dimensionality. In addition, when not using the feature extraction and feature selection mechanism simultaneously skips important features available in data. Consequently, the real meaning of data is changed that resulting in computational overheads [</a:t>
            </a:r>
            <a:r>
              <a:rPr lang="en-US" sz="1600" dirty="0" smtClean="0">
                <a:solidFill>
                  <a:srgbClr val="FF0000"/>
                </a:solidFill>
                <a:latin typeface="Times New Roman" panose="02020603050405020304" pitchFamily="18" charset="0"/>
                <a:cs typeface="Times New Roman" panose="02020603050405020304" pitchFamily="18" charset="0"/>
              </a:rPr>
              <a:t>33]. </a:t>
            </a:r>
            <a:r>
              <a:rPr lang="en-US" sz="1600" dirty="0">
                <a:solidFill>
                  <a:srgbClr val="FF0000"/>
                </a:solidFill>
                <a:latin typeface="Times New Roman" panose="02020603050405020304" pitchFamily="18" charset="0"/>
                <a:cs typeface="Times New Roman" panose="02020603050405020304" pitchFamily="18" charset="0"/>
              </a:rPr>
              <a:t>Moreover, these techniques also do not perform well on data that contains high noise and high inconsistency [</a:t>
            </a:r>
            <a:r>
              <a:rPr lang="en-US" sz="1600" dirty="0" smtClean="0">
                <a:solidFill>
                  <a:srgbClr val="FF0000"/>
                </a:solidFill>
                <a:latin typeface="Times New Roman" panose="02020603050405020304" pitchFamily="18" charset="0"/>
                <a:cs typeface="Times New Roman" panose="02020603050405020304" pitchFamily="18" charset="0"/>
              </a:rPr>
              <a:t>34]. </a:t>
            </a:r>
            <a:r>
              <a:rPr lang="en-US" sz="1600" dirty="0">
                <a:latin typeface="Times New Roman" panose="02020603050405020304" pitchFamily="18" charset="0"/>
                <a:cs typeface="Times New Roman" panose="02020603050405020304" pitchFamily="18" charset="0"/>
              </a:rPr>
              <a:t>Therefore, this research aims to propose a framework for the efficient detection of fake news on social media platforms based on ensemble methods.</a:t>
            </a:r>
            <a:endParaRPr lang="en-US" dirty="0">
              <a:latin typeface="Times New Roman" panose="02020603050405020304" pitchFamily="18" charset="0"/>
              <a:cs typeface="Times New Roman" panose="02020603050405020304" pitchFamily="18" charset="0"/>
            </a:endParaRPr>
          </a:p>
          <a:p>
            <a:pPr marL="12700" marR="5080" algn="just">
              <a:lnSpc>
                <a:spcPct val="143800"/>
              </a:lnSpc>
              <a:spcBef>
                <a:spcPts val="105"/>
              </a:spcBef>
            </a:pPr>
            <a:endParaRPr lang="en-US" dirty="0" smtClean="0">
              <a:solidFill>
                <a:srgbClr val="FF0000"/>
              </a:solidFill>
              <a:latin typeface="Times New Roman" panose="02020603050405020304" pitchFamily="18" charset="0"/>
              <a:cs typeface="Times New Roman" panose="02020603050405020304" pitchFamily="18" charset="0"/>
            </a:endParaRPr>
          </a:p>
          <a:p>
            <a:pPr marL="12700" marR="5080" algn="just">
              <a:lnSpc>
                <a:spcPct val="143800"/>
              </a:lnSpc>
              <a:spcBef>
                <a:spcPts val="105"/>
              </a:spcBef>
            </a:pPr>
            <a:r>
              <a:rPr lang="en-US" sz="900" dirty="0">
                <a:latin typeface="Times New Roman" panose="02020603050405020304" pitchFamily="18" charset="0"/>
                <a:cs typeface="Times New Roman" panose="02020603050405020304" pitchFamily="18" charset="0"/>
              </a:rPr>
              <a:t>[13] F. I. Adiba, T. Islam, M. S. Kaiser, M. Mahmud, en M. A. Rahman, “Effect of corpora on classification of fake news using naive Bayes classifier”, International Journal of Automation,2020</a:t>
            </a:r>
            <a:r>
              <a:rPr lang="en-US" sz="900" dirty="0" smtClean="0">
                <a:latin typeface="Times New Roman" panose="02020603050405020304" pitchFamily="18" charset="0"/>
                <a:cs typeface="Times New Roman" panose="02020603050405020304" pitchFamily="18" charset="0"/>
              </a:rPr>
              <a:t>.</a:t>
            </a:r>
          </a:p>
          <a:p>
            <a:pPr marL="12700" marR="5080" algn="just">
              <a:lnSpc>
                <a:spcPct val="143800"/>
              </a:lnSpc>
              <a:spcBef>
                <a:spcPts val="105"/>
              </a:spcBef>
            </a:pPr>
            <a:r>
              <a:rPr lang="en-US" sz="900" dirty="0">
                <a:latin typeface="Times New Roman" panose="02020603050405020304" pitchFamily="18" charset="0"/>
                <a:cs typeface="Times New Roman" panose="02020603050405020304" pitchFamily="18" charset="0"/>
              </a:rPr>
              <a:t>[31] A. </a:t>
            </a:r>
            <a:r>
              <a:rPr lang="en-US" sz="900" dirty="0" err="1">
                <a:latin typeface="Times New Roman" panose="02020603050405020304" pitchFamily="18" charset="0"/>
                <a:cs typeface="Times New Roman" panose="02020603050405020304" pitchFamily="18" charset="0"/>
              </a:rPr>
              <a:t>Mahabub</a:t>
            </a:r>
            <a:r>
              <a:rPr lang="en-US" sz="900" dirty="0">
                <a:latin typeface="Times New Roman" panose="02020603050405020304" pitchFamily="18" charset="0"/>
                <a:cs typeface="Times New Roman" panose="02020603050405020304" pitchFamily="18" charset="0"/>
              </a:rPr>
              <a:t>, “A robust technique of fake news detection using Ensemble Voting Classifier and comparison with other classifiers”, SN Appl. Sci., </a:t>
            </a:r>
            <a:r>
              <a:rPr lang="en-US" sz="900" dirty="0" err="1">
                <a:latin typeface="Times New Roman" panose="02020603050405020304" pitchFamily="18" charset="0"/>
                <a:cs typeface="Times New Roman" panose="02020603050405020304" pitchFamily="18" charset="0"/>
              </a:rPr>
              <a:t>vol</a:t>
            </a:r>
            <a:r>
              <a:rPr lang="en-US" sz="900" dirty="0">
                <a:latin typeface="Times New Roman" panose="02020603050405020304" pitchFamily="18" charset="0"/>
                <a:cs typeface="Times New Roman" panose="02020603050405020304" pitchFamily="18" charset="0"/>
              </a:rPr>
              <a:t> 2, no 4, Apr 2020.</a:t>
            </a:r>
          </a:p>
          <a:p>
            <a:pPr marL="12700" marR="5080" algn="just">
              <a:lnSpc>
                <a:spcPct val="143800"/>
              </a:lnSpc>
              <a:spcBef>
                <a:spcPts val="105"/>
              </a:spcBef>
            </a:pPr>
            <a:r>
              <a:rPr lang="en-US" sz="900" dirty="0">
                <a:latin typeface="Times New Roman" panose="02020603050405020304" pitchFamily="18" charset="0"/>
                <a:cs typeface="Times New Roman" panose="02020603050405020304" pitchFamily="18" charset="0"/>
              </a:rPr>
              <a:t>[32] O. </a:t>
            </a:r>
            <a:r>
              <a:rPr lang="en-US" sz="900" dirty="0" err="1">
                <a:latin typeface="Times New Roman" panose="02020603050405020304" pitchFamily="18" charset="0"/>
                <a:cs typeface="Times New Roman" panose="02020603050405020304" pitchFamily="18" charset="0"/>
              </a:rPr>
              <a:t>Ajao</a:t>
            </a:r>
            <a:r>
              <a:rPr lang="en-US" sz="900" dirty="0">
                <a:latin typeface="Times New Roman" panose="02020603050405020304" pitchFamily="18" charset="0"/>
                <a:cs typeface="Times New Roman" panose="02020603050405020304" pitchFamily="18" charset="0"/>
              </a:rPr>
              <a:t>, D. </a:t>
            </a:r>
            <a:r>
              <a:rPr lang="en-US" sz="900" dirty="0" err="1">
                <a:latin typeface="Times New Roman" panose="02020603050405020304" pitchFamily="18" charset="0"/>
                <a:cs typeface="Times New Roman" panose="02020603050405020304" pitchFamily="18" charset="0"/>
              </a:rPr>
              <a:t>Bhowmik</a:t>
            </a:r>
            <a:r>
              <a:rPr lang="en-US" sz="900" dirty="0">
                <a:latin typeface="Times New Roman" panose="02020603050405020304" pitchFamily="18" charset="0"/>
                <a:cs typeface="Times New Roman" panose="02020603050405020304" pitchFamily="18" charset="0"/>
              </a:rPr>
              <a:t>, en S. </a:t>
            </a:r>
            <a:r>
              <a:rPr lang="en-US" sz="900" dirty="0" err="1">
                <a:latin typeface="Times New Roman" panose="02020603050405020304" pitchFamily="18" charset="0"/>
                <a:cs typeface="Times New Roman" panose="02020603050405020304" pitchFamily="18" charset="0"/>
              </a:rPr>
              <a:t>Zargari</a:t>
            </a:r>
            <a:r>
              <a:rPr lang="en-US" sz="900" dirty="0">
                <a:latin typeface="Times New Roman" panose="02020603050405020304" pitchFamily="18" charset="0"/>
                <a:cs typeface="Times New Roman" panose="02020603050405020304" pitchFamily="18" charset="0"/>
              </a:rPr>
              <a:t>, “Fake news identification on twitter with hybrid CNN and RNN models”, in Proceedings of the 9th International Conference on Social Media and Society, Copenhagen Denmark, pp.226-230, 2018</a:t>
            </a:r>
            <a:r>
              <a:rPr lang="en-US" sz="900" dirty="0" smtClean="0">
                <a:latin typeface="Times New Roman" panose="02020603050405020304" pitchFamily="18" charset="0"/>
                <a:cs typeface="Times New Roman" panose="02020603050405020304" pitchFamily="18" charset="0"/>
              </a:rPr>
              <a:t>.</a:t>
            </a:r>
            <a:endParaRPr lang="en-US" sz="900" dirty="0">
              <a:latin typeface="Times New Roman" panose="02020603050405020304" pitchFamily="18" charset="0"/>
              <a:cs typeface="Times New Roman" panose="02020603050405020304" pitchFamily="18" charset="0"/>
            </a:endParaRPr>
          </a:p>
          <a:p>
            <a:pPr marL="12700" marR="5080" algn="just">
              <a:lnSpc>
                <a:spcPct val="143800"/>
              </a:lnSpc>
              <a:spcBef>
                <a:spcPts val="105"/>
              </a:spcBef>
            </a:pPr>
            <a:r>
              <a:rPr lang="en-US" sz="900" dirty="0" smtClean="0">
                <a:latin typeface="Times New Roman" panose="02020603050405020304" pitchFamily="18" charset="0"/>
                <a:cs typeface="Times New Roman" panose="02020603050405020304" pitchFamily="18" charset="0"/>
              </a:rPr>
              <a:t>[</a:t>
            </a:r>
            <a:r>
              <a:rPr lang="en-US" sz="900" dirty="0">
                <a:latin typeface="Times New Roman" panose="02020603050405020304" pitchFamily="18" charset="0"/>
                <a:cs typeface="Times New Roman" panose="02020603050405020304" pitchFamily="18" charset="0"/>
              </a:rPr>
              <a:t>33] F. S. </a:t>
            </a:r>
            <a:r>
              <a:rPr lang="en-US" sz="900" dirty="0" err="1">
                <a:latin typeface="Times New Roman" panose="02020603050405020304" pitchFamily="18" charset="0"/>
                <a:cs typeface="Times New Roman" panose="02020603050405020304" pitchFamily="18" charset="0"/>
              </a:rPr>
              <a:t>Samani</a:t>
            </a:r>
            <a:r>
              <a:rPr lang="en-US" sz="900" dirty="0">
                <a:latin typeface="Times New Roman" panose="02020603050405020304" pitchFamily="18" charset="0"/>
                <a:cs typeface="Times New Roman" panose="02020603050405020304" pitchFamily="18" charset="0"/>
              </a:rPr>
              <a:t>, H. Zhang, en R. </a:t>
            </a:r>
            <a:r>
              <a:rPr lang="en-US" sz="900" dirty="0" err="1">
                <a:latin typeface="Times New Roman" panose="02020603050405020304" pitchFamily="18" charset="0"/>
                <a:cs typeface="Times New Roman" panose="02020603050405020304" pitchFamily="18" charset="0"/>
              </a:rPr>
              <a:t>Stadler</a:t>
            </a:r>
            <a:r>
              <a:rPr lang="en-US" sz="900" dirty="0">
                <a:latin typeface="Times New Roman" panose="02020603050405020304" pitchFamily="18" charset="0"/>
                <a:cs typeface="Times New Roman" panose="02020603050405020304" pitchFamily="18" charset="0"/>
              </a:rPr>
              <a:t>, “Efficient learning on high-dimensional operational data”, in 2019 15th International Conference on Network and Service Management (CNSM), Halifax, NS, Canada, p.1-9, 2019.</a:t>
            </a:r>
          </a:p>
          <a:p>
            <a:pPr marL="12700" marR="5080" algn="just">
              <a:lnSpc>
                <a:spcPct val="143800"/>
              </a:lnSpc>
              <a:spcBef>
                <a:spcPts val="105"/>
              </a:spcBef>
            </a:pPr>
            <a:r>
              <a:rPr lang="en-US" sz="900" dirty="0">
                <a:latin typeface="Times New Roman" panose="02020603050405020304" pitchFamily="18" charset="0"/>
                <a:cs typeface="Times New Roman" panose="02020603050405020304" pitchFamily="18" charset="0"/>
              </a:rPr>
              <a:t>[34] K. </a:t>
            </a:r>
            <a:r>
              <a:rPr lang="en-US" sz="900" dirty="0" err="1">
                <a:latin typeface="Times New Roman" panose="02020603050405020304" pitchFamily="18" charset="0"/>
                <a:cs typeface="Times New Roman" panose="02020603050405020304" pitchFamily="18" charset="0"/>
              </a:rPr>
              <a:t>Shu</a:t>
            </a:r>
            <a:r>
              <a:rPr lang="en-US" sz="900" dirty="0">
                <a:latin typeface="Times New Roman" panose="02020603050405020304" pitchFamily="18" charset="0"/>
                <a:cs typeface="Times New Roman" panose="02020603050405020304" pitchFamily="18" charset="0"/>
              </a:rPr>
              <a:t>, A. </a:t>
            </a:r>
            <a:r>
              <a:rPr lang="en-US" sz="900" dirty="0" err="1">
                <a:latin typeface="Times New Roman" panose="02020603050405020304" pitchFamily="18" charset="0"/>
                <a:cs typeface="Times New Roman" panose="02020603050405020304" pitchFamily="18" charset="0"/>
              </a:rPr>
              <a:t>Sliva</a:t>
            </a:r>
            <a:r>
              <a:rPr lang="en-US" sz="900" dirty="0">
                <a:latin typeface="Times New Roman" panose="02020603050405020304" pitchFamily="18" charset="0"/>
                <a:cs typeface="Times New Roman" panose="02020603050405020304" pitchFamily="18" charset="0"/>
              </a:rPr>
              <a:t>, S. Wang, J. Tang, en H. Liu, “Fake news detection on social media: A data mining perspective”, </a:t>
            </a:r>
            <a:r>
              <a:rPr lang="en-US" sz="900" dirty="0" err="1">
                <a:latin typeface="Times New Roman" panose="02020603050405020304" pitchFamily="18" charset="0"/>
                <a:cs typeface="Times New Roman" panose="02020603050405020304" pitchFamily="18" charset="0"/>
              </a:rPr>
              <a:t>arXiv</a:t>
            </a:r>
            <a:r>
              <a:rPr lang="en-US" sz="900" dirty="0">
                <a:latin typeface="Times New Roman" panose="02020603050405020304" pitchFamily="18" charset="0"/>
                <a:cs typeface="Times New Roman" panose="02020603050405020304" pitchFamily="18" charset="0"/>
              </a:rPr>
              <a:t> [cs.SI], pp.22-36, 2017.</a:t>
            </a:r>
          </a:p>
          <a:p>
            <a:pPr marL="12700" marR="5080" algn="just">
              <a:lnSpc>
                <a:spcPct val="143800"/>
              </a:lnSpc>
              <a:spcBef>
                <a:spcPts val="105"/>
              </a:spcBef>
            </a:pPr>
            <a:endParaRPr lang="en-US" sz="2000" dirty="0">
              <a:solidFill>
                <a:srgbClr val="FF0000"/>
              </a:solidFill>
              <a:latin typeface="Times New Roman" panose="02020603050405020304" pitchFamily="18" charset="0"/>
              <a:cs typeface="Times New Roman" panose="02020603050405020304" pitchFamily="18" charset="0"/>
            </a:endParaRPr>
          </a:p>
        </p:txBody>
      </p:sp>
      <p:sp>
        <p:nvSpPr>
          <p:cNvPr id="13" name="Slide Number Placeholder 12">
            <a:extLst>
              <a:ext uri="{FF2B5EF4-FFF2-40B4-BE49-F238E27FC236}">
                <a16:creationId xmlns="" xmlns:a16="http://schemas.microsoft.com/office/drawing/2014/main" id="{58DEC84D-3A32-4CBF-B9CC-BC2DC6120B09}"/>
              </a:ext>
            </a:extLst>
          </p:cNvPr>
          <p:cNvSpPr>
            <a:spLocks noGrp="1"/>
          </p:cNvSpPr>
          <p:nvPr>
            <p:ph type="sldNum" sz="quarter" idx="7"/>
          </p:nvPr>
        </p:nvSpPr>
        <p:spPr/>
        <p:txBody>
          <a:bodyPr/>
          <a:lstStyle/>
          <a:p>
            <a:fld id="{B6F15528-21DE-4FAA-801E-634DDDAF4B2B}" type="slidenum">
              <a:rPr lang="x-none" smtClean="0"/>
              <a:t>4</a:t>
            </a:fld>
            <a:endParaRPr lang="x-none"/>
          </a:p>
        </p:txBody>
      </p:sp>
      <p:sp>
        <p:nvSpPr>
          <p:cNvPr id="14" name="Footer Placeholder 7">
            <a:extLst>
              <a:ext uri="{FF2B5EF4-FFF2-40B4-BE49-F238E27FC236}">
                <a16:creationId xmlns="" xmlns:a16="http://schemas.microsoft.com/office/drawing/2014/main" id="{7E4D364E-C2C4-4992-A9EE-6524CA64BF4A}"/>
              </a:ext>
            </a:extLst>
          </p:cNvPr>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DF635B-EC42-4485-A3F5-3C90F25DA055}"/>
              </a:ext>
            </a:extLst>
          </p:cNvPr>
          <p:cNvSpPr>
            <a:spLocks noGrp="1"/>
          </p:cNvSpPr>
          <p:nvPr>
            <p:ph type="title"/>
          </p:nvPr>
        </p:nvSpPr>
        <p:spPr>
          <a:xfrm>
            <a:off x="1829466" y="152400"/>
            <a:ext cx="8297481" cy="461665"/>
          </a:xfrm>
        </p:spPr>
        <p:txBody>
          <a:bodyPr/>
          <a:lstStyle/>
          <a:p>
            <a:pPr algn="ctr"/>
            <a:r>
              <a:rPr lang="en-GB" dirty="0"/>
              <a:t>Proposed Solution </a:t>
            </a:r>
            <a:r>
              <a:rPr lang="en-GB" dirty="0" smtClean="0"/>
              <a:t>(System </a:t>
            </a:r>
            <a:r>
              <a:rPr lang="en-GB" dirty="0"/>
              <a:t>Model)</a:t>
            </a:r>
          </a:p>
        </p:txBody>
      </p:sp>
      <p:sp>
        <p:nvSpPr>
          <p:cNvPr id="7" name="Slide Number Placeholder 6">
            <a:extLst>
              <a:ext uri="{FF2B5EF4-FFF2-40B4-BE49-F238E27FC236}">
                <a16:creationId xmlns="" xmlns:a16="http://schemas.microsoft.com/office/drawing/2014/main" id="{07678828-3AFA-464E-94C5-AF9A48914B61}"/>
              </a:ext>
            </a:extLst>
          </p:cNvPr>
          <p:cNvSpPr>
            <a:spLocks noGrp="1"/>
          </p:cNvSpPr>
          <p:nvPr>
            <p:ph type="sldNum" sz="quarter" idx="7"/>
          </p:nvPr>
        </p:nvSpPr>
        <p:spPr/>
        <p:txBody>
          <a:bodyPr/>
          <a:lstStyle/>
          <a:p>
            <a:fld id="{B6F15528-21DE-4FAA-801E-634DDDAF4B2B}" type="slidenum">
              <a:rPr lang="x-none" smtClean="0"/>
              <a:t>5</a:t>
            </a:fld>
            <a:endParaRPr lang="x-none"/>
          </a:p>
        </p:txBody>
      </p:sp>
      <p:sp>
        <p:nvSpPr>
          <p:cNvPr id="8" name="Footer Placeholder 7">
            <a:extLst>
              <a:ext uri="{FF2B5EF4-FFF2-40B4-BE49-F238E27FC236}">
                <a16:creationId xmlns="" xmlns:a16="http://schemas.microsoft.com/office/drawing/2014/main" id="{7E4D364E-C2C4-4992-A9EE-6524CA64BF4A}"/>
              </a:ext>
            </a:extLst>
          </p:cNvPr>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sp>
        <p:nvSpPr>
          <p:cNvPr id="4" name="Rectangle 3"/>
          <p:cNvSpPr/>
          <p:nvPr/>
        </p:nvSpPr>
        <p:spPr>
          <a:xfrm>
            <a:off x="152400" y="1219200"/>
            <a:ext cx="6096000" cy="3139321"/>
          </a:xfrm>
          <a:prstGeom prst="rect">
            <a:avLst/>
          </a:prstGeom>
        </p:spPr>
        <p:txBody>
          <a:bodyPr>
            <a:spAutoFit/>
          </a:bodyPr>
          <a:lstStyle/>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fake news detection is performed through multiple proposed ensemble classifiers which are the combination of machine learning and deep learning models</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model is proposed which incorporates both feature extraction and selection techniques to reduce high dimensionality</a:t>
            </a:r>
            <a:r>
              <a:rPr lang="en-US" dirty="0" smtClean="0">
                <a:latin typeface="Times New Roman" panose="02020603050405020304" pitchFamily="18" charset="0"/>
                <a:cs typeface="Times New Roman" panose="02020603050405020304" pitchFamily="18" charset="0"/>
              </a:rPr>
              <a:t>.</a:t>
            </a:r>
          </a:p>
          <a:p>
            <a:pPr algn="just"/>
            <a:endParaRPr lang="en-US"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proposed model is evaluated using three different types of datasets. Moreover, the comparison of the model is performed with the state-of-the-art studies.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3200" y="614065"/>
            <a:ext cx="4553432" cy="5481935"/>
          </a:xfrm>
          <a:prstGeom prst="rect">
            <a:avLst/>
          </a:prstGeom>
        </p:spPr>
      </p:pic>
    </p:spTree>
    <p:extLst>
      <p:ext uri="{BB962C8B-B14F-4D97-AF65-F5344CB8AC3E}">
        <p14:creationId xmlns:p14="http://schemas.microsoft.com/office/powerpoint/2010/main" val="21126796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5800" y="388786"/>
            <a:ext cx="7424675" cy="492443"/>
          </a:xfrm>
        </p:spPr>
        <p:txBody>
          <a:bodyPr/>
          <a:lstStyle/>
          <a:p>
            <a:r>
              <a:rPr lang="en-US" sz="3200" spc="-5" dirty="0" smtClean="0"/>
              <a:t>Tools and Technology</a:t>
            </a:r>
            <a:endParaRPr lang="en-US" dirty="0"/>
          </a:p>
        </p:txBody>
      </p:sp>
      <p:sp>
        <p:nvSpPr>
          <p:cNvPr id="3" name="Content Placeholder 2"/>
          <p:cNvSpPr>
            <a:spLocks noGrp="1"/>
          </p:cNvSpPr>
          <p:nvPr>
            <p:ph sz="half" idx="2"/>
          </p:nvPr>
        </p:nvSpPr>
        <p:spPr>
          <a:xfrm>
            <a:off x="609600" y="1577340"/>
            <a:ext cx="10972800" cy="276999"/>
          </a:xfrm>
        </p:spPr>
        <p:txBody>
          <a:bodyPr/>
          <a:lstStyle/>
          <a:p>
            <a:pPr algn="just"/>
            <a:r>
              <a:rPr lang="en-US" sz="1800" b="0" dirty="0" smtClean="0">
                <a:solidFill>
                  <a:schemeClr val="tx1"/>
                </a:solidFill>
                <a:latin typeface="Times New Roman" panose="02020603050405020304" pitchFamily="18" charset="0"/>
                <a:cs typeface="Times New Roman" panose="02020603050405020304" pitchFamily="18" charset="0"/>
              </a:rPr>
              <a:t>Add tools </a:t>
            </a:r>
            <a:r>
              <a:rPr lang="en-US" sz="1800" b="0" dirty="0" smtClean="0">
                <a:solidFill>
                  <a:schemeClr val="tx1"/>
                </a:solidFill>
                <a:latin typeface="Times New Roman" panose="02020603050405020304" pitchFamily="18" charset="0"/>
                <a:cs typeface="Times New Roman" panose="02020603050405020304" pitchFamily="18" charset="0"/>
              </a:rPr>
              <a:t>languages and system specifications </a:t>
            </a:r>
            <a:r>
              <a:rPr lang="en-US" sz="1800" b="0" dirty="0" smtClean="0">
                <a:solidFill>
                  <a:schemeClr val="tx1"/>
                </a:solidFill>
                <a:latin typeface="Times New Roman" panose="02020603050405020304" pitchFamily="18" charset="0"/>
                <a:cs typeface="Times New Roman" panose="02020603050405020304" pitchFamily="18" charset="0"/>
              </a:rPr>
              <a:t>which would be used in development</a:t>
            </a:r>
            <a:endParaRPr lang="en-US" dirty="0"/>
          </a:p>
        </p:txBody>
      </p:sp>
      <p:sp>
        <p:nvSpPr>
          <p:cNvPr id="6" name="Slide Number Placeholder 5"/>
          <p:cNvSpPr>
            <a:spLocks noGrp="1"/>
          </p:cNvSpPr>
          <p:nvPr>
            <p:ph type="sldNum" sz="quarter" idx="7"/>
          </p:nvPr>
        </p:nvSpPr>
        <p:spPr/>
        <p:txBody>
          <a:bodyPr/>
          <a:lstStyle/>
          <a:p>
            <a:fld id="{B6F15528-21DE-4FAA-801E-634DDDAF4B2B}" type="slidenum">
              <a:rPr lang="en-US" smtClean="0"/>
              <a:t>6</a:t>
            </a:fld>
            <a:endParaRPr lang="en-US"/>
          </a:p>
        </p:txBody>
      </p:sp>
      <p:sp>
        <p:nvSpPr>
          <p:cNvPr id="8" name="Footer Placeholder 7">
            <a:extLst>
              <a:ext uri="{FF2B5EF4-FFF2-40B4-BE49-F238E27FC236}">
                <a16:creationId xmlns="" xmlns:a16="http://schemas.microsoft.com/office/drawing/2014/main" id="{7E4D364E-C2C4-4992-A9EE-6524CA64BF4A}"/>
              </a:ext>
            </a:extLst>
          </p:cNvPr>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spTree>
    <p:extLst>
      <p:ext uri="{BB962C8B-B14F-4D97-AF65-F5344CB8AC3E}">
        <p14:creationId xmlns:p14="http://schemas.microsoft.com/office/powerpoint/2010/main" val="13323985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p:cNvSpPr/>
          <p:nvPr/>
        </p:nvSpPr>
        <p:spPr>
          <a:xfrm>
            <a:off x="2472182" y="6254191"/>
            <a:ext cx="7009765" cy="527685"/>
          </a:xfrm>
          <a:custGeom>
            <a:avLst/>
            <a:gdLst/>
            <a:ahLst/>
            <a:cxnLst/>
            <a:rect l="l" t="t" r="r" b="b"/>
            <a:pathLst>
              <a:path w="7009765" h="527684">
                <a:moveTo>
                  <a:pt x="0" y="527303"/>
                </a:moveTo>
                <a:lnTo>
                  <a:pt x="7009510" y="527303"/>
                </a:lnTo>
                <a:lnTo>
                  <a:pt x="7009510" y="0"/>
                </a:lnTo>
                <a:lnTo>
                  <a:pt x="0" y="0"/>
                </a:lnTo>
                <a:lnTo>
                  <a:pt x="0" y="527303"/>
                </a:lnTo>
                <a:close/>
              </a:path>
            </a:pathLst>
          </a:custGeom>
          <a:solidFill>
            <a:srgbClr val="1D9A78"/>
          </a:solidFill>
        </p:spPr>
        <p:txBody>
          <a:bodyPr wrap="square" lIns="0" tIns="0" rIns="0" bIns="0" rtlCol="0"/>
          <a:lstStyle/>
          <a:p>
            <a:endParaRPr/>
          </a:p>
        </p:txBody>
      </p:sp>
      <p:sp>
        <p:nvSpPr>
          <p:cNvPr id="7" name="object 5"/>
          <p:cNvSpPr/>
          <p:nvPr/>
        </p:nvSpPr>
        <p:spPr>
          <a:xfrm>
            <a:off x="2539238" y="6470599"/>
            <a:ext cx="6875780" cy="218440"/>
          </a:xfrm>
          <a:custGeom>
            <a:avLst/>
            <a:gdLst/>
            <a:ahLst/>
            <a:cxnLst/>
            <a:rect l="l" t="t" r="r" b="b"/>
            <a:pathLst>
              <a:path w="6875780" h="218440">
                <a:moveTo>
                  <a:pt x="0" y="217932"/>
                </a:moveTo>
                <a:lnTo>
                  <a:pt x="6875398" y="217932"/>
                </a:lnTo>
                <a:lnTo>
                  <a:pt x="6875398" y="0"/>
                </a:lnTo>
                <a:lnTo>
                  <a:pt x="0" y="0"/>
                </a:lnTo>
                <a:lnTo>
                  <a:pt x="0" y="217932"/>
                </a:lnTo>
                <a:close/>
              </a:path>
            </a:pathLst>
          </a:custGeom>
          <a:solidFill>
            <a:srgbClr val="1D9A78"/>
          </a:solidFill>
        </p:spPr>
        <p:txBody>
          <a:bodyPr wrap="square" lIns="0" tIns="0" rIns="0" bIns="0" rtlCol="0"/>
          <a:lstStyle/>
          <a:p>
            <a:endParaRPr/>
          </a:p>
        </p:txBody>
      </p:sp>
      <p:sp>
        <p:nvSpPr>
          <p:cNvPr id="8" name="object 6"/>
          <p:cNvSpPr/>
          <p:nvPr/>
        </p:nvSpPr>
        <p:spPr>
          <a:xfrm>
            <a:off x="2472182" y="6162751"/>
            <a:ext cx="7009765" cy="12700"/>
          </a:xfrm>
          <a:custGeom>
            <a:avLst/>
            <a:gdLst/>
            <a:ahLst/>
            <a:cxnLst/>
            <a:rect l="l" t="t" r="r" b="b"/>
            <a:pathLst>
              <a:path w="7009765" h="12700">
                <a:moveTo>
                  <a:pt x="0" y="12191"/>
                </a:moveTo>
                <a:lnTo>
                  <a:pt x="7009510" y="12191"/>
                </a:lnTo>
                <a:lnTo>
                  <a:pt x="7009510" y="0"/>
                </a:lnTo>
                <a:lnTo>
                  <a:pt x="0" y="0"/>
                </a:lnTo>
                <a:lnTo>
                  <a:pt x="0" y="12191"/>
                </a:lnTo>
                <a:close/>
              </a:path>
            </a:pathLst>
          </a:custGeom>
          <a:solidFill>
            <a:srgbClr val="126F55"/>
          </a:solidFill>
        </p:spPr>
        <p:txBody>
          <a:bodyPr wrap="square" lIns="0" tIns="0" rIns="0" bIns="0" rtlCol="0"/>
          <a:lstStyle/>
          <a:p>
            <a:endParaRPr/>
          </a:p>
        </p:txBody>
      </p:sp>
      <p:sp>
        <p:nvSpPr>
          <p:cNvPr id="9" name="object 7"/>
          <p:cNvSpPr/>
          <p:nvPr/>
        </p:nvSpPr>
        <p:spPr>
          <a:xfrm>
            <a:off x="2472182" y="6174943"/>
            <a:ext cx="7009765" cy="79375"/>
          </a:xfrm>
          <a:custGeom>
            <a:avLst/>
            <a:gdLst/>
            <a:ahLst/>
            <a:cxnLst/>
            <a:rect l="l" t="t" r="r" b="b"/>
            <a:pathLst>
              <a:path w="7009765" h="79375">
                <a:moveTo>
                  <a:pt x="0" y="79247"/>
                </a:moveTo>
                <a:lnTo>
                  <a:pt x="7009510" y="79247"/>
                </a:lnTo>
                <a:lnTo>
                  <a:pt x="7009510" y="0"/>
                </a:lnTo>
                <a:lnTo>
                  <a:pt x="0" y="0"/>
                </a:lnTo>
                <a:lnTo>
                  <a:pt x="0" y="79247"/>
                </a:lnTo>
                <a:close/>
              </a:path>
            </a:pathLst>
          </a:custGeom>
          <a:solidFill>
            <a:srgbClr val="1D9A78"/>
          </a:solidFill>
        </p:spPr>
        <p:txBody>
          <a:bodyPr wrap="square" lIns="0" tIns="0" rIns="0" bIns="0" rtlCol="0"/>
          <a:lstStyle/>
          <a:p>
            <a:endParaRPr/>
          </a:p>
        </p:txBody>
      </p:sp>
      <p:sp>
        <p:nvSpPr>
          <p:cNvPr id="10" name="object 8"/>
          <p:cNvSpPr/>
          <p:nvPr/>
        </p:nvSpPr>
        <p:spPr>
          <a:xfrm>
            <a:off x="2466086"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a:endParaRPr/>
          </a:p>
        </p:txBody>
      </p:sp>
      <p:sp>
        <p:nvSpPr>
          <p:cNvPr id="11" name="object 9"/>
          <p:cNvSpPr/>
          <p:nvPr/>
        </p:nvSpPr>
        <p:spPr>
          <a:xfrm>
            <a:off x="2472182" y="6781494"/>
            <a:ext cx="7009765" cy="12700"/>
          </a:xfrm>
          <a:custGeom>
            <a:avLst/>
            <a:gdLst/>
            <a:ahLst/>
            <a:cxnLst/>
            <a:rect l="l" t="t" r="r" b="b"/>
            <a:pathLst>
              <a:path w="7009765" h="12700">
                <a:moveTo>
                  <a:pt x="0" y="12192"/>
                </a:moveTo>
                <a:lnTo>
                  <a:pt x="7009510" y="12192"/>
                </a:lnTo>
                <a:lnTo>
                  <a:pt x="7009510" y="0"/>
                </a:lnTo>
                <a:lnTo>
                  <a:pt x="0" y="0"/>
                </a:lnTo>
                <a:lnTo>
                  <a:pt x="0" y="12192"/>
                </a:lnTo>
                <a:close/>
              </a:path>
            </a:pathLst>
          </a:custGeom>
          <a:solidFill>
            <a:srgbClr val="126F55"/>
          </a:solidFill>
        </p:spPr>
        <p:txBody>
          <a:bodyPr wrap="square" lIns="0" tIns="0" rIns="0" bIns="0" rtlCol="0"/>
          <a:lstStyle/>
          <a:p>
            <a:endParaRPr/>
          </a:p>
        </p:txBody>
      </p:sp>
      <p:sp>
        <p:nvSpPr>
          <p:cNvPr id="12" name="object 10"/>
          <p:cNvSpPr/>
          <p:nvPr/>
        </p:nvSpPr>
        <p:spPr>
          <a:xfrm>
            <a:off x="9487789"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a:endParaRPr/>
          </a:p>
        </p:txBody>
      </p:sp>
      <p:sp>
        <p:nvSpPr>
          <p:cNvPr id="13" name="object 11"/>
          <p:cNvSpPr txBox="1">
            <a:spLocks noGrp="1"/>
          </p:cNvSpPr>
          <p:nvPr>
            <p:ph type="title"/>
          </p:nvPr>
        </p:nvSpPr>
        <p:spPr>
          <a:xfrm>
            <a:off x="1600200" y="381000"/>
            <a:ext cx="9199683" cy="617798"/>
          </a:xfrm>
          <a:prstGeom prst="rect">
            <a:avLst/>
          </a:prstGeom>
        </p:spPr>
        <p:txBody>
          <a:bodyPr vert="horz" wrap="square" lIns="0" tIns="12700" rIns="0" bIns="0" rtlCol="0">
            <a:spAutoFit/>
          </a:bodyPr>
          <a:lstStyle/>
          <a:p>
            <a:pPr marL="1072515" marR="5080" indent="-1096645" algn="ctr">
              <a:lnSpc>
                <a:spcPct val="105300"/>
              </a:lnSpc>
              <a:spcBef>
                <a:spcPts val="100"/>
              </a:spcBef>
            </a:pPr>
            <a:r>
              <a:rPr lang="en-US" sz="4000" spc="-5" dirty="0" smtClean="0"/>
              <a:t>Significance</a:t>
            </a:r>
            <a:endParaRPr sz="4000" dirty="0"/>
          </a:p>
        </p:txBody>
      </p:sp>
      <p:sp>
        <p:nvSpPr>
          <p:cNvPr id="16" name="object 3"/>
          <p:cNvSpPr txBox="1"/>
          <p:nvPr/>
        </p:nvSpPr>
        <p:spPr>
          <a:xfrm>
            <a:off x="457200" y="5760755"/>
            <a:ext cx="11582400" cy="259045"/>
          </a:xfrm>
          <a:prstGeom prst="rect">
            <a:avLst/>
          </a:prstGeom>
        </p:spPr>
        <p:txBody>
          <a:bodyPr vert="horz" wrap="square" lIns="0" tIns="104140" rIns="0" bIns="0" rtlCol="0">
            <a:spAutoFit/>
          </a:bodyPr>
          <a:lstStyle/>
          <a:p>
            <a:pPr marL="12700" algn="just">
              <a:spcBef>
                <a:spcPts val="820"/>
              </a:spcBef>
              <a:tabLst>
                <a:tab pos="241300" algn="l"/>
              </a:tabLst>
            </a:pPr>
            <a:r>
              <a:rPr lang="en-US" sz="1000" dirty="0">
                <a:latin typeface="Times New Roman" panose="02020603050405020304" pitchFamily="18" charset="0"/>
                <a:cs typeface="Times New Roman" panose="02020603050405020304" pitchFamily="18" charset="0"/>
              </a:rPr>
              <a:t>.</a:t>
            </a:r>
          </a:p>
        </p:txBody>
      </p:sp>
      <p:sp>
        <p:nvSpPr>
          <p:cNvPr id="3" name="Slide Number Placeholder 2">
            <a:extLst>
              <a:ext uri="{FF2B5EF4-FFF2-40B4-BE49-F238E27FC236}">
                <a16:creationId xmlns="" xmlns:a16="http://schemas.microsoft.com/office/drawing/2014/main" id="{7CF42CC9-DD71-466B-8A80-B18FDBBDC7A5}"/>
              </a:ext>
            </a:extLst>
          </p:cNvPr>
          <p:cNvSpPr>
            <a:spLocks noGrp="1"/>
          </p:cNvSpPr>
          <p:nvPr>
            <p:ph type="sldNum" sz="quarter" idx="7"/>
          </p:nvPr>
        </p:nvSpPr>
        <p:spPr/>
        <p:txBody>
          <a:bodyPr/>
          <a:lstStyle/>
          <a:p>
            <a:fld id="{B6F15528-21DE-4FAA-801E-634DDDAF4B2B}" type="slidenum">
              <a:rPr lang="x-none" smtClean="0"/>
              <a:t>7</a:t>
            </a:fld>
            <a:endParaRPr lang="x-none"/>
          </a:p>
        </p:txBody>
      </p:sp>
      <p:sp>
        <p:nvSpPr>
          <p:cNvPr id="17" name="Footer Placeholder 7">
            <a:extLst>
              <a:ext uri="{FF2B5EF4-FFF2-40B4-BE49-F238E27FC236}">
                <a16:creationId xmlns="" xmlns:a16="http://schemas.microsoft.com/office/drawing/2014/main" id="{7E4D364E-C2C4-4992-A9EE-6524CA64BF4A}"/>
              </a:ext>
            </a:extLst>
          </p:cNvPr>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sp>
        <p:nvSpPr>
          <p:cNvPr id="4" name="Rectangle 3"/>
          <p:cNvSpPr/>
          <p:nvPr/>
        </p:nvSpPr>
        <p:spPr>
          <a:xfrm>
            <a:off x="685800" y="3712090"/>
            <a:ext cx="10896600" cy="1323439"/>
          </a:xfrm>
          <a:prstGeom prst="rect">
            <a:avLst/>
          </a:prstGeom>
        </p:spPr>
        <p:txBody>
          <a:bodyPr wrap="square">
            <a:spAutoFit/>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Different combination of the classifiers are </a:t>
            </a:r>
            <a:r>
              <a:rPr lang="en-US" sz="1600" dirty="0" err="1">
                <a:latin typeface="Times New Roman" panose="02020603050405020304" pitchFamily="18" charset="0"/>
                <a:cs typeface="Times New Roman" panose="02020603050405020304" pitchFamily="18" charset="0"/>
              </a:rPr>
              <a:t>ensembled</a:t>
            </a:r>
            <a:r>
              <a:rPr lang="en-US" sz="1600" dirty="0">
                <a:latin typeface="Times New Roman" panose="02020603050405020304" pitchFamily="18" charset="0"/>
                <a:cs typeface="Times New Roman" panose="02020603050405020304" pitchFamily="18" charset="0"/>
              </a:rPr>
              <a:t> which includes Naive Bayes and Decision Tree, Random Forest and Naive Bayes, Random Forest and Support Vector Machine, Decision Tree and Random Forest, and Decision Tree with Random Forest. These ensemble classifiers achieved 95%, 96%, 93%, 98%, and, 91% accuracy, respectively.</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These experiments shows that Decision Tree and Random Forest outperforms as compared to other combinations with 98% accuracy.</a:t>
            </a:r>
          </a:p>
        </p:txBody>
      </p:sp>
    </p:spTree>
    <p:extLst>
      <p:ext uri="{BB962C8B-B14F-4D97-AF65-F5344CB8AC3E}">
        <p14:creationId xmlns:p14="http://schemas.microsoft.com/office/powerpoint/2010/main" val="4539830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2472182" y="6254191"/>
            <a:ext cx="7009765" cy="527685"/>
          </a:xfrm>
          <a:custGeom>
            <a:avLst/>
            <a:gdLst/>
            <a:ahLst/>
            <a:cxnLst/>
            <a:rect l="l" t="t" r="r" b="b"/>
            <a:pathLst>
              <a:path w="7009765" h="527684">
                <a:moveTo>
                  <a:pt x="0" y="527303"/>
                </a:moveTo>
                <a:lnTo>
                  <a:pt x="7009510" y="527303"/>
                </a:lnTo>
                <a:lnTo>
                  <a:pt x="7009510" y="0"/>
                </a:lnTo>
                <a:lnTo>
                  <a:pt x="0" y="0"/>
                </a:lnTo>
                <a:lnTo>
                  <a:pt x="0" y="527303"/>
                </a:lnTo>
                <a:close/>
              </a:path>
            </a:pathLst>
          </a:custGeom>
          <a:solidFill>
            <a:srgbClr val="1D9A78"/>
          </a:solidFill>
        </p:spPr>
        <p:txBody>
          <a:bodyPr wrap="square" lIns="0" tIns="0" rIns="0" bIns="0" rtlCol="0"/>
          <a:lstStyle/>
          <a:p>
            <a:endParaRPr/>
          </a:p>
        </p:txBody>
      </p:sp>
      <p:sp>
        <p:nvSpPr>
          <p:cNvPr id="5" name="object 4"/>
          <p:cNvSpPr/>
          <p:nvPr/>
        </p:nvSpPr>
        <p:spPr>
          <a:xfrm>
            <a:off x="2539238" y="6254191"/>
            <a:ext cx="6875780" cy="216535"/>
          </a:xfrm>
          <a:custGeom>
            <a:avLst/>
            <a:gdLst/>
            <a:ahLst/>
            <a:cxnLst/>
            <a:rect l="l" t="t" r="r" b="b"/>
            <a:pathLst>
              <a:path w="6875780" h="216535">
                <a:moveTo>
                  <a:pt x="0" y="216407"/>
                </a:moveTo>
                <a:lnTo>
                  <a:pt x="6875398" y="216407"/>
                </a:lnTo>
                <a:lnTo>
                  <a:pt x="6875398" y="0"/>
                </a:lnTo>
                <a:lnTo>
                  <a:pt x="0" y="0"/>
                </a:lnTo>
                <a:lnTo>
                  <a:pt x="0" y="216407"/>
                </a:lnTo>
                <a:close/>
              </a:path>
            </a:pathLst>
          </a:custGeom>
          <a:solidFill>
            <a:srgbClr val="1D9A78"/>
          </a:solidFill>
        </p:spPr>
        <p:txBody>
          <a:bodyPr wrap="square" lIns="0" tIns="0" rIns="0" bIns="0" rtlCol="0"/>
          <a:lstStyle/>
          <a:p>
            <a:endParaRPr/>
          </a:p>
        </p:txBody>
      </p:sp>
      <p:sp>
        <p:nvSpPr>
          <p:cNvPr id="6" name="object 5"/>
          <p:cNvSpPr/>
          <p:nvPr/>
        </p:nvSpPr>
        <p:spPr>
          <a:xfrm>
            <a:off x="2539238" y="6470599"/>
            <a:ext cx="6875780" cy="218440"/>
          </a:xfrm>
          <a:custGeom>
            <a:avLst/>
            <a:gdLst/>
            <a:ahLst/>
            <a:cxnLst/>
            <a:rect l="l" t="t" r="r" b="b"/>
            <a:pathLst>
              <a:path w="6875780" h="218440">
                <a:moveTo>
                  <a:pt x="0" y="217932"/>
                </a:moveTo>
                <a:lnTo>
                  <a:pt x="6875398" y="217932"/>
                </a:lnTo>
                <a:lnTo>
                  <a:pt x="6875398" y="0"/>
                </a:lnTo>
                <a:lnTo>
                  <a:pt x="0" y="0"/>
                </a:lnTo>
                <a:lnTo>
                  <a:pt x="0" y="217932"/>
                </a:lnTo>
                <a:close/>
              </a:path>
            </a:pathLst>
          </a:custGeom>
          <a:solidFill>
            <a:srgbClr val="1D9A78"/>
          </a:solidFill>
        </p:spPr>
        <p:txBody>
          <a:bodyPr wrap="square" lIns="0" tIns="0" rIns="0" bIns="0" rtlCol="0"/>
          <a:lstStyle/>
          <a:p>
            <a:endParaRPr/>
          </a:p>
        </p:txBody>
      </p:sp>
      <p:sp>
        <p:nvSpPr>
          <p:cNvPr id="7" name="object 6"/>
          <p:cNvSpPr/>
          <p:nvPr/>
        </p:nvSpPr>
        <p:spPr>
          <a:xfrm>
            <a:off x="2472182" y="6162751"/>
            <a:ext cx="7009765" cy="12700"/>
          </a:xfrm>
          <a:custGeom>
            <a:avLst/>
            <a:gdLst/>
            <a:ahLst/>
            <a:cxnLst/>
            <a:rect l="l" t="t" r="r" b="b"/>
            <a:pathLst>
              <a:path w="7009765" h="12700">
                <a:moveTo>
                  <a:pt x="0" y="12191"/>
                </a:moveTo>
                <a:lnTo>
                  <a:pt x="7009510" y="12191"/>
                </a:lnTo>
                <a:lnTo>
                  <a:pt x="7009510" y="0"/>
                </a:lnTo>
                <a:lnTo>
                  <a:pt x="0" y="0"/>
                </a:lnTo>
                <a:lnTo>
                  <a:pt x="0" y="12191"/>
                </a:lnTo>
                <a:close/>
              </a:path>
            </a:pathLst>
          </a:custGeom>
          <a:solidFill>
            <a:srgbClr val="126F55"/>
          </a:solidFill>
        </p:spPr>
        <p:txBody>
          <a:bodyPr wrap="square" lIns="0" tIns="0" rIns="0" bIns="0" rtlCol="0"/>
          <a:lstStyle/>
          <a:p>
            <a:endParaRPr/>
          </a:p>
        </p:txBody>
      </p:sp>
      <p:sp>
        <p:nvSpPr>
          <p:cNvPr id="8" name="object 7"/>
          <p:cNvSpPr/>
          <p:nvPr/>
        </p:nvSpPr>
        <p:spPr>
          <a:xfrm>
            <a:off x="2472182" y="6174943"/>
            <a:ext cx="7009765" cy="79375"/>
          </a:xfrm>
          <a:custGeom>
            <a:avLst/>
            <a:gdLst/>
            <a:ahLst/>
            <a:cxnLst/>
            <a:rect l="l" t="t" r="r" b="b"/>
            <a:pathLst>
              <a:path w="7009765" h="79375">
                <a:moveTo>
                  <a:pt x="0" y="79247"/>
                </a:moveTo>
                <a:lnTo>
                  <a:pt x="7009510" y="79247"/>
                </a:lnTo>
                <a:lnTo>
                  <a:pt x="7009510" y="0"/>
                </a:lnTo>
                <a:lnTo>
                  <a:pt x="0" y="0"/>
                </a:lnTo>
                <a:lnTo>
                  <a:pt x="0" y="79247"/>
                </a:lnTo>
                <a:close/>
              </a:path>
            </a:pathLst>
          </a:custGeom>
          <a:solidFill>
            <a:srgbClr val="1D9A78"/>
          </a:solidFill>
        </p:spPr>
        <p:txBody>
          <a:bodyPr wrap="square" lIns="0" tIns="0" rIns="0" bIns="0" rtlCol="0"/>
          <a:lstStyle/>
          <a:p>
            <a:endParaRPr/>
          </a:p>
        </p:txBody>
      </p:sp>
      <p:sp>
        <p:nvSpPr>
          <p:cNvPr id="9" name="object 8"/>
          <p:cNvSpPr/>
          <p:nvPr/>
        </p:nvSpPr>
        <p:spPr>
          <a:xfrm>
            <a:off x="2466086"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a:endParaRPr/>
          </a:p>
        </p:txBody>
      </p:sp>
      <p:sp>
        <p:nvSpPr>
          <p:cNvPr id="10" name="object 9"/>
          <p:cNvSpPr/>
          <p:nvPr/>
        </p:nvSpPr>
        <p:spPr>
          <a:xfrm>
            <a:off x="2472182" y="6781494"/>
            <a:ext cx="7009765" cy="12700"/>
          </a:xfrm>
          <a:custGeom>
            <a:avLst/>
            <a:gdLst/>
            <a:ahLst/>
            <a:cxnLst/>
            <a:rect l="l" t="t" r="r" b="b"/>
            <a:pathLst>
              <a:path w="7009765" h="12700">
                <a:moveTo>
                  <a:pt x="0" y="12192"/>
                </a:moveTo>
                <a:lnTo>
                  <a:pt x="7009510" y="12192"/>
                </a:lnTo>
                <a:lnTo>
                  <a:pt x="7009510" y="0"/>
                </a:lnTo>
                <a:lnTo>
                  <a:pt x="0" y="0"/>
                </a:lnTo>
                <a:lnTo>
                  <a:pt x="0" y="12192"/>
                </a:lnTo>
                <a:close/>
              </a:path>
            </a:pathLst>
          </a:custGeom>
          <a:solidFill>
            <a:srgbClr val="126F55"/>
          </a:solidFill>
        </p:spPr>
        <p:txBody>
          <a:bodyPr wrap="square" lIns="0" tIns="0" rIns="0" bIns="0" rtlCol="0"/>
          <a:lstStyle/>
          <a:p>
            <a:endParaRPr/>
          </a:p>
        </p:txBody>
      </p:sp>
      <p:sp>
        <p:nvSpPr>
          <p:cNvPr id="11" name="object 10"/>
          <p:cNvSpPr/>
          <p:nvPr/>
        </p:nvSpPr>
        <p:spPr>
          <a:xfrm>
            <a:off x="9487789" y="6162751"/>
            <a:ext cx="0" cy="631190"/>
          </a:xfrm>
          <a:custGeom>
            <a:avLst/>
            <a:gdLst/>
            <a:ahLst/>
            <a:cxnLst/>
            <a:rect l="l" t="t" r="r" b="b"/>
            <a:pathLst>
              <a:path h="631190">
                <a:moveTo>
                  <a:pt x="0" y="0"/>
                </a:moveTo>
                <a:lnTo>
                  <a:pt x="0" y="630936"/>
                </a:lnTo>
              </a:path>
            </a:pathLst>
          </a:custGeom>
          <a:ln w="12192">
            <a:solidFill>
              <a:srgbClr val="126F55"/>
            </a:solidFill>
          </a:ln>
        </p:spPr>
        <p:txBody>
          <a:bodyPr wrap="square" lIns="0" tIns="0" rIns="0" bIns="0" rtlCol="0"/>
          <a:lstStyle/>
          <a:p>
            <a:endParaRPr/>
          </a:p>
        </p:txBody>
      </p:sp>
      <p:sp>
        <p:nvSpPr>
          <p:cNvPr id="12" name="object 11"/>
          <p:cNvSpPr txBox="1">
            <a:spLocks noGrp="1"/>
          </p:cNvSpPr>
          <p:nvPr>
            <p:ph type="title"/>
          </p:nvPr>
        </p:nvSpPr>
        <p:spPr>
          <a:xfrm>
            <a:off x="1600200" y="228600"/>
            <a:ext cx="9199683" cy="617798"/>
          </a:xfrm>
          <a:prstGeom prst="rect">
            <a:avLst/>
          </a:prstGeom>
        </p:spPr>
        <p:txBody>
          <a:bodyPr vert="horz" wrap="square" lIns="0" tIns="12700" rIns="0" bIns="0" rtlCol="0">
            <a:spAutoFit/>
          </a:bodyPr>
          <a:lstStyle/>
          <a:p>
            <a:pPr marL="1072515" marR="5080" indent="-1096645" algn="ctr">
              <a:lnSpc>
                <a:spcPct val="105300"/>
              </a:lnSpc>
              <a:spcBef>
                <a:spcPts val="100"/>
              </a:spcBef>
            </a:pPr>
            <a:r>
              <a:rPr lang="en-US" sz="4000" spc="-5" dirty="0"/>
              <a:t>References</a:t>
            </a:r>
            <a:endParaRPr sz="4000" dirty="0"/>
          </a:p>
        </p:txBody>
      </p:sp>
      <p:sp>
        <p:nvSpPr>
          <p:cNvPr id="14" name="object 12"/>
          <p:cNvSpPr txBox="1"/>
          <p:nvPr/>
        </p:nvSpPr>
        <p:spPr>
          <a:xfrm>
            <a:off x="228600" y="1066800"/>
            <a:ext cx="11811000" cy="4884222"/>
          </a:xfrm>
          <a:prstGeom prst="rect">
            <a:avLst/>
          </a:prstGeom>
        </p:spPr>
        <p:txBody>
          <a:bodyPr vert="horz" wrap="square" lIns="0" tIns="13335" rIns="0" bIns="0" rtlCol="0">
            <a:spAutoFit/>
          </a:bodyPr>
          <a:lstStyle/>
          <a:p>
            <a:pPr algn="just"/>
            <a:r>
              <a:rPr lang="en-US" sz="1200" dirty="0">
                <a:latin typeface="Times New Roman" panose="02020603050405020304" pitchFamily="18" charset="0"/>
                <a:cs typeface="Times New Roman" panose="02020603050405020304" pitchFamily="18" charset="0"/>
              </a:rPr>
              <a:t>[1] H. Ledford, “How Facebook, Twitter and other data troves are revolutionizing social science”, Nature, </a:t>
            </a:r>
            <a:r>
              <a:rPr lang="en-US" sz="1200" dirty="0" err="1">
                <a:latin typeface="Times New Roman" panose="02020603050405020304" pitchFamily="18" charset="0"/>
                <a:cs typeface="Times New Roman" panose="02020603050405020304" pitchFamily="18" charset="0"/>
              </a:rPr>
              <a:t>vol</a:t>
            </a:r>
            <a:r>
              <a:rPr lang="en-US" sz="1200" dirty="0">
                <a:latin typeface="Times New Roman" panose="02020603050405020304" pitchFamily="18" charset="0"/>
                <a:cs typeface="Times New Roman" panose="02020603050405020304" pitchFamily="18" charset="0"/>
              </a:rPr>
              <a:t> 582, no 7812, pp.328–330, Jun 2020</a:t>
            </a:r>
            <a:r>
              <a:rPr lang="en-US" sz="1200" dirty="0" smtClean="0">
                <a:latin typeface="Times New Roman" panose="02020603050405020304" pitchFamily="18" charset="0"/>
                <a:cs typeface="Times New Roman" panose="02020603050405020304" pitchFamily="18" charset="0"/>
              </a:rPr>
              <a:t>.</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[8] K. </a:t>
            </a:r>
            <a:r>
              <a:rPr lang="en-US" sz="1200" dirty="0" err="1">
                <a:latin typeface="Times New Roman" panose="02020603050405020304" pitchFamily="18" charset="0"/>
                <a:cs typeface="Times New Roman" panose="02020603050405020304" pitchFamily="18" charset="0"/>
              </a:rPr>
              <a:t>Chowdhary</a:t>
            </a:r>
            <a:r>
              <a:rPr lang="en-US" sz="1200" dirty="0">
                <a:latin typeface="Times New Roman" panose="02020603050405020304" pitchFamily="18" charset="0"/>
                <a:cs typeface="Times New Roman" panose="02020603050405020304" pitchFamily="18" charset="0"/>
              </a:rPr>
              <a:t>, “Natural language processing. Fundamentals of artificial intelligence</a:t>
            </a:r>
            <a:r>
              <a:rPr lang="en-US" sz="1200" dirty="0" smtClean="0">
                <a:latin typeface="Times New Roman" panose="02020603050405020304" pitchFamily="18" charset="0"/>
                <a:cs typeface="Times New Roman" panose="02020603050405020304" pitchFamily="18" charset="0"/>
              </a:rPr>
              <a:t>”, pp.603–649</a:t>
            </a:r>
            <a:r>
              <a:rPr lang="en-US" sz="1200" dirty="0">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2020</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[6] S. Hakak, M. </a:t>
            </a:r>
            <a:r>
              <a:rPr lang="en-US" sz="1200" dirty="0" err="1">
                <a:latin typeface="Times New Roman" panose="02020603050405020304" pitchFamily="18" charset="0"/>
                <a:cs typeface="Times New Roman" panose="02020603050405020304" pitchFamily="18" charset="0"/>
              </a:rPr>
              <a:t>Alazab</a:t>
            </a:r>
            <a:r>
              <a:rPr lang="en-US" sz="1200" dirty="0">
                <a:latin typeface="Times New Roman" panose="02020603050405020304" pitchFamily="18" charset="0"/>
                <a:cs typeface="Times New Roman" panose="02020603050405020304" pitchFamily="18" charset="0"/>
              </a:rPr>
              <a:t>, S. Khan, T. R. </a:t>
            </a:r>
            <a:r>
              <a:rPr lang="en-US" sz="1200" dirty="0" err="1">
                <a:latin typeface="Times New Roman" panose="02020603050405020304" pitchFamily="18" charset="0"/>
                <a:cs typeface="Times New Roman" panose="02020603050405020304" pitchFamily="18" charset="0"/>
              </a:rPr>
              <a:t>Gadekallu</a:t>
            </a:r>
            <a:r>
              <a:rPr lang="en-US" sz="1200" dirty="0">
                <a:latin typeface="Times New Roman" panose="02020603050405020304" pitchFamily="18" charset="0"/>
                <a:cs typeface="Times New Roman" panose="02020603050405020304" pitchFamily="18" charset="0"/>
              </a:rPr>
              <a:t>, P. K. R. </a:t>
            </a:r>
            <a:r>
              <a:rPr lang="en-US" sz="1200" dirty="0" err="1">
                <a:latin typeface="Times New Roman" panose="02020603050405020304" pitchFamily="18" charset="0"/>
                <a:cs typeface="Times New Roman" panose="02020603050405020304" pitchFamily="18" charset="0"/>
              </a:rPr>
              <a:t>Maddikunta</a:t>
            </a:r>
            <a:r>
              <a:rPr lang="en-US" sz="1200" dirty="0">
                <a:latin typeface="Times New Roman" panose="02020603050405020304" pitchFamily="18" charset="0"/>
                <a:cs typeface="Times New Roman" panose="02020603050405020304" pitchFamily="18" charset="0"/>
              </a:rPr>
              <a:t>, en W. Z. Khan, “An ensemble machine learning approach through effective feature extraction to classify </a:t>
            </a:r>
            <a:r>
              <a:rPr lang="en-US" sz="1200" dirty="0" smtClean="0">
                <a:latin typeface="Times New Roman" panose="02020603050405020304" pitchFamily="18" charset="0"/>
                <a:cs typeface="Times New Roman" panose="02020603050405020304" pitchFamily="18" charset="0"/>
              </a:rPr>
              <a:t>fake news</a:t>
            </a:r>
            <a:r>
              <a:rPr lang="en-US" sz="1200" dirty="0">
                <a:latin typeface="Times New Roman" panose="02020603050405020304" pitchFamily="18" charset="0"/>
                <a:cs typeface="Times New Roman" panose="02020603050405020304" pitchFamily="18" charset="0"/>
              </a:rPr>
              <a:t>”, Future </a:t>
            </a:r>
            <a:r>
              <a:rPr lang="en-US" sz="1200" dirty="0" err="1">
                <a:latin typeface="Times New Roman" panose="02020603050405020304" pitchFamily="18" charset="0"/>
                <a:cs typeface="Times New Roman" panose="02020603050405020304" pitchFamily="18" charset="0"/>
              </a:rPr>
              <a:t>Gener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Comput</a:t>
            </a:r>
            <a:r>
              <a:rPr lang="en-US" sz="1200" dirty="0">
                <a:latin typeface="Times New Roman" panose="02020603050405020304" pitchFamily="18" charset="0"/>
                <a:cs typeface="Times New Roman" panose="02020603050405020304" pitchFamily="18" charset="0"/>
              </a:rPr>
              <a:t>. Syst., </a:t>
            </a:r>
            <a:r>
              <a:rPr lang="en-US" sz="1200" dirty="0" err="1">
                <a:latin typeface="Times New Roman" panose="02020603050405020304" pitchFamily="18" charset="0"/>
                <a:cs typeface="Times New Roman" panose="02020603050405020304" pitchFamily="18" charset="0"/>
              </a:rPr>
              <a:t>vol</a:t>
            </a:r>
            <a:r>
              <a:rPr lang="en-US" sz="1200" dirty="0">
                <a:latin typeface="Times New Roman" panose="02020603050405020304" pitchFamily="18" charset="0"/>
                <a:cs typeface="Times New Roman" panose="02020603050405020304" pitchFamily="18" charset="0"/>
              </a:rPr>
              <a:t> 117, pp. 47–58, Apr 2021</a:t>
            </a:r>
            <a:r>
              <a:rPr lang="en-US" sz="1200" dirty="0" smtClean="0">
                <a:latin typeface="Times New Roman" panose="02020603050405020304" pitchFamily="18" charset="0"/>
                <a:cs typeface="Times New Roman" panose="02020603050405020304" pitchFamily="18" charset="0"/>
              </a:rPr>
              <a:t>.</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[11] M. </a:t>
            </a:r>
            <a:r>
              <a:rPr lang="en-US" sz="1200" dirty="0" err="1">
                <a:latin typeface="Times New Roman" panose="02020603050405020304" pitchFamily="18" charset="0"/>
                <a:cs typeface="Times New Roman" panose="02020603050405020304" pitchFamily="18" charset="0"/>
              </a:rPr>
              <a:t>Granik</a:t>
            </a:r>
            <a:r>
              <a:rPr lang="en-US" sz="1200" dirty="0">
                <a:latin typeface="Times New Roman" panose="02020603050405020304" pitchFamily="18" charset="0"/>
                <a:cs typeface="Times New Roman" panose="02020603050405020304" pitchFamily="18" charset="0"/>
              </a:rPr>
              <a:t> en V. Mesyura, “Fake news detection using naive Bayes classifier”, in 2017 IEEE First Ukraine Conference on Electrical and Computer Engineering (UKRCON), </a:t>
            </a:r>
            <a:r>
              <a:rPr lang="en-US" sz="1200" dirty="0" smtClean="0">
                <a:latin typeface="Times New Roman" panose="02020603050405020304" pitchFamily="18" charset="0"/>
                <a:cs typeface="Times New Roman" panose="02020603050405020304" pitchFamily="18" charset="0"/>
              </a:rPr>
              <a:t>Kiev,2017.</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[12] A. </a:t>
            </a:r>
            <a:r>
              <a:rPr lang="en-US" sz="1200" dirty="0" err="1">
                <a:latin typeface="Times New Roman" panose="02020603050405020304" pitchFamily="18" charset="0"/>
                <a:cs typeface="Times New Roman" panose="02020603050405020304" pitchFamily="18" charset="0"/>
              </a:rPr>
              <a:t>Thota</a:t>
            </a:r>
            <a:r>
              <a:rPr lang="en-US" sz="1200" dirty="0">
                <a:latin typeface="Times New Roman" panose="02020603050405020304" pitchFamily="18" charset="0"/>
                <a:cs typeface="Times New Roman" panose="02020603050405020304" pitchFamily="18" charset="0"/>
              </a:rPr>
              <a:t>, P. </a:t>
            </a:r>
            <a:r>
              <a:rPr lang="en-US" sz="1200" dirty="0" err="1">
                <a:latin typeface="Times New Roman" panose="02020603050405020304" pitchFamily="18" charset="0"/>
                <a:cs typeface="Times New Roman" panose="02020603050405020304" pitchFamily="18" charset="0"/>
              </a:rPr>
              <a:t>Tilak</a:t>
            </a:r>
            <a:r>
              <a:rPr lang="en-US" sz="1200" dirty="0">
                <a:latin typeface="Times New Roman" panose="02020603050405020304" pitchFamily="18" charset="0"/>
                <a:cs typeface="Times New Roman" panose="02020603050405020304" pitchFamily="18" charset="0"/>
              </a:rPr>
              <a:t>, S. Ahluwalia, en N. </a:t>
            </a:r>
            <a:r>
              <a:rPr lang="en-US" sz="1200" dirty="0" err="1">
                <a:latin typeface="Times New Roman" panose="02020603050405020304" pitchFamily="18" charset="0"/>
                <a:cs typeface="Times New Roman" panose="02020603050405020304" pitchFamily="18" charset="0"/>
              </a:rPr>
              <a:t>Lohia</a:t>
            </a:r>
            <a:r>
              <a:rPr lang="en-US" sz="1200" dirty="0">
                <a:latin typeface="Times New Roman" panose="02020603050405020304" pitchFamily="18" charset="0"/>
                <a:cs typeface="Times New Roman" panose="02020603050405020304" pitchFamily="18" charset="0"/>
              </a:rPr>
              <a:t>, “Fake news detection: a deep learning approach”, SMU Data Science Review, </a:t>
            </a:r>
            <a:r>
              <a:rPr lang="en-US" sz="1200" dirty="0" err="1">
                <a:latin typeface="Times New Roman" panose="02020603050405020304" pitchFamily="18" charset="0"/>
                <a:cs typeface="Times New Roman" panose="02020603050405020304" pitchFamily="18" charset="0"/>
              </a:rPr>
              <a:t>vol</a:t>
            </a:r>
            <a:r>
              <a:rPr lang="en-US" sz="1200" dirty="0">
                <a:latin typeface="Times New Roman" panose="02020603050405020304" pitchFamily="18" charset="0"/>
                <a:cs typeface="Times New Roman" panose="02020603050405020304" pitchFamily="18" charset="0"/>
              </a:rPr>
              <a:t> 1, no 3, 2018</a:t>
            </a:r>
            <a:r>
              <a:rPr lang="en-US" sz="1200" dirty="0" smtClean="0">
                <a:latin typeface="Times New Roman" panose="02020603050405020304" pitchFamily="18" charset="0"/>
                <a:cs typeface="Times New Roman" panose="02020603050405020304" pitchFamily="18" charset="0"/>
              </a:rPr>
              <a:t>.</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[15] T. Chen, X. Li, H. Yin, en J. Zhang, “Call attention to rumors: Deep attention based recurrent neural networks for early rumor detection”, in Lecture Notes in Computer Science, Cham: Springer International Publishing, pp. 40–52, 2018</a:t>
            </a:r>
            <a:r>
              <a:rPr lang="en-US" sz="1200" dirty="0" smtClean="0">
                <a:latin typeface="Times New Roman" panose="02020603050405020304" pitchFamily="18" charset="0"/>
                <a:cs typeface="Times New Roman" panose="02020603050405020304" pitchFamily="18" charset="0"/>
              </a:rPr>
              <a:t>.</a:t>
            </a:r>
          </a:p>
          <a:p>
            <a:pPr marL="12700" marR="5080" algn="just">
              <a:lnSpc>
                <a:spcPct val="143800"/>
              </a:lnSpc>
              <a:spcBef>
                <a:spcPts val="105"/>
              </a:spcBef>
            </a:pPr>
            <a:r>
              <a:rPr lang="en-US" sz="1200" dirty="0" smtClean="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13] F. I. Adiba, T. Islam, M. S. Kaiser, M. Mahmud, en M. A. Rahman, “Effect of corpora on classification of fake news using naive Bayes classifier”, International Journal of Automation,2020.</a:t>
            </a:r>
          </a:p>
          <a:p>
            <a:pPr marL="12700" marR="5080" algn="just">
              <a:lnSpc>
                <a:spcPct val="143800"/>
              </a:lnSpc>
              <a:spcBef>
                <a:spcPts val="105"/>
              </a:spcBef>
            </a:pPr>
            <a:r>
              <a:rPr lang="en-US" sz="1200" dirty="0">
                <a:latin typeface="Times New Roman" panose="02020603050405020304" pitchFamily="18" charset="0"/>
                <a:cs typeface="Times New Roman" panose="02020603050405020304" pitchFamily="18" charset="0"/>
              </a:rPr>
              <a:t>[31] A. </a:t>
            </a:r>
            <a:r>
              <a:rPr lang="en-US" sz="1200" dirty="0" err="1">
                <a:latin typeface="Times New Roman" panose="02020603050405020304" pitchFamily="18" charset="0"/>
                <a:cs typeface="Times New Roman" panose="02020603050405020304" pitchFamily="18" charset="0"/>
              </a:rPr>
              <a:t>Mahabub</a:t>
            </a:r>
            <a:r>
              <a:rPr lang="en-US" sz="1200" dirty="0">
                <a:latin typeface="Times New Roman" panose="02020603050405020304" pitchFamily="18" charset="0"/>
                <a:cs typeface="Times New Roman" panose="02020603050405020304" pitchFamily="18" charset="0"/>
              </a:rPr>
              <a:t>, “A robust technique of fake news detection using Ensemble Voting Classifier and comparison with other classifiers”, SN Appl. Sci., </a:t>
            </a:r>
            <a:r>
              <a:rPr lang="en-US" sz="1200" dirty="0" err="1">
                <a:latin typeface="Times New Roman" panose="02020603050405020304" pitchFamily="18" charset="0"/>
                <a:cs typeface="Times New Roman" panose="02020603050405020304" pitchFamily="18" charset="0"/>
              </a:rPr>
              <a:t>vol</a:t>
            </a:r>
            <a:r>
              <a:rPr lang="en-US" sz="1200" dirty="0">
                <a:latin typeface="Times New Roman" panose="02020603050405020304" pitchFamily="18" charset="0"/>
                <a:cs typeface="Times New Roman" panose="02020603050405020304" pitchFamily="18" charset="0"/>
              </a:rPr>
              <a:t> 2, no 4, Apr 2020</a:t>
            </a:r>
            <a:r>
              <a:rPr lang="en-US" sz="1200" dirty="0" smtClean="0">
                <a:latin typeface="Times New Roman" panose="02020603050405020304" pitchFamily="18" charset="0"/>
                <a:cs typeface="Times New Roman" panose="02020603050405020304" pitchFamily="18" charset="0"/>
              </a:rPr>
              <a:t>.</a:t>
            </a:r>
          </a:p>
          <a:p>
            <a:pPr marL="12700" marR="5080" algn="just">
              <a:lnSpc>
                <a:spcPct val="143800"/>
              </a:lnSpc>
              <a:spcBef>
                <a:spcPts val="105"/>
              </a:spcBef>
            </a:pPr>
            <a:r>
              <a:rPr lang="en-US" sz="1200" dirty="0">
                <a:latin typeface="Times New Roman" panose="02020603050405020304" pitchFamily="18" charset="0"/>
                <a:cs typeface="Times New Roman" panose="02020603050405020304" pitchFamily="18" charset="0"/>
              </a:rPr>
              <a:t>[32] O. </a:t>
            </a:r>
            <a:r>
              <a:rPr lang="en-US" sz="1200" dirty="0" err="1">
                <a:latin typeface="Times New Roman" panose="02020603050405020304" pitchFamily="18" charset="0"/>
                <a:cs typeface="Times New Roman" panose="02020603050405020304" pitchFamily="18" charset="0"/>
              </a:rPr>
              <a:t>Ajao</a:t>
            </a:r>
            <a:r>
              <a:rPr lang="en-US" sz="1200" dirty="0">
                <a:latin typeface="Times New Roman" panose="02020603050405020304" pitchFamily="18" charset="0"/>
                <a:cs typeface="Times New Roman" panose="02020603050405020304" pitchFamily="18" charset="0"/>
              </a:rPr>
              <a:t>, D. </a:t>
            </a:r>
            <a:r>
              <a:rPr lang="en-US" sz="1200" dirty="0" err="1">
                <a:latin typeface="Times New Roman" panose="02020603050405020304" pitchFamily="18" charset="0"/>
                <a:cs typeface="Times New Roman" panose="02020603050405020304" pitchFamily="18" charset="0"/>
              </a:rPr>
              <a:t>Bhowmik</a:t>
            </a:r>
            <a:r>
              <a:rPr lang="en-US" sz="1200" dirty="0">
                <a:latin typeface="Times New Roman" panose="02020603050405020304" pitchFamily="18" charset="0"/>
                <a:cs typeface="Times New Roman" panose="02020603050405020304" pitchFamily="18" charset="0"/>
              </a:rPr>
              <a:t>, en S. </a:t>
            </a:r>
            <a:r>
              <a:rPr lang="en-US" sz="1200" dirty="0" err="1">
                <a:latin typeface="Times New Roman" panose="02020603050405020304" pitchFamily="18" charset="0"/>
                <a:cs typeface="Times New Roman" panose="02020603050405020304" pitchFamily="18" charset="0"/>
              </a:rPr>
              <a:t>Zargari</a:t>
            </a:r>
            <a:r>
              <a:rPr lang="en-US" sz="1200" dirty="0">
                <a:latin typeface="Times New Roman" panose="02020603050405020304" pitchFamily="18" charset="0"/>
                <a:cs typeface="Times New Roman" panose="02020603050405020304" pitchFamily="18" charset="0"/>
              </a:rPr>
              <a:t>, “Fake news identification on twitter with hybrid CNN and RNN models”, in Proceedings of the 9th International Conference on Social Media and Society, Copenhagen Denmark, pp.226-230, 2018.</a:t>
            </a:r>
          </a:p>
          <a:p>
            <a:pPr marL="12700" marR="5080" algn="just">
              <a:lnSpc>
                <a:spcPct val="143800"/>
              </a:lnSpc>
              <a:spcBef>
                <a:spcPts val="105"/>
              </a:spcBef>
            </a:pPr>
            <a:r>
              <a:rPr lang="en-US" sz="1200" dirty="0">
                <a:latin typeface="Times New Roman" panose="02020603050405020304" pitchFamily="18" charset="0"/>
                <a:cs typeface="Times New Roman" panose="02020603050405020304" pitchFamily="18" charset="0"/>
              </a:rPr>
              <a:t>[33] F. S. </a:t>
            </a:r>
            <a:r>
              <a:rPr lang="en-US" sz="1200" dirty="0" err="1">
                <a:latin typeface="Times New Roman" panose="02020603050405020304" pitchFamily="18" charset="0"/>
                <a:cs typeface="Times New Roman" panose="02020603050405020304" pitchFamily="18" charset="0"/>
              </a:rPr>
              <a:t>Samani</a:t>
            </a:r>
            <a:r>
              <a:rPr lang="en-US" sz="1200" dirty="0">
                <a:latin typeface="Times New Roman" panose="02020603050405020304" pitchFamily="18" charset="0"/>
                <a:cs typeface="Times New Roman" panose="02020603050405020304" pitchFamily="18" charset="0"/>
              </a:rPr>
              <a:t>, H. Zhang, en R. </a:t>
            </a:r>
            <a:r>
              <a:rPr lang="en-US" sz="1200" dirty="0" err="1">
                <a:latin typeface="Times New Roman" panose="02020603050405020304" pitchFamily="18" charset="0"/>
                <a:cs typeface="Times New Roman" panose="02020603050405020304" pitchFamily="18" charset="0"/>
              </a:rPr>
              <a:t>Stadler</a:t>
            </a:r>
            <a:r>
              <a:rPr lang="en-US" sz="1200" dirty="0">
                <a:latin typeface="Times New Roman" panose="02020603050405020304" pitchFamily="18" charset="0"/>
                <a:cs typeface="Times New Roman" panose="02020603050405020304" pitchFamily="18" charset="0"/>
              </a:rPr>
              <a:t>, “Efficient learning on high-dimensional operational data”, in 2019 15th International Conference on Network and Service Management (CNSM), Halifax, NS, Canada, p.1-9, 2019.</a:t>
            </a:r>
          </a:p>
          <a:p>
            <a:pPr marL="12700" marR="5080" algn="just">
              <a:lnSpc>
                <a:spcPct val="143800"/>
              </a:lnSpc>
              <a:spcBef>
                <a:spcPts val="105"/>
              </a:spcBef>
            </a:pPr>
            <a:r>
              <a:rPr lang="en-US" sz="1200" dirty="0">
                <a:latin typeface="Times New Roman" panose="02020603050405020304" pitchFamily="18" charset="0"/>
                <a:cs typeface="Times New Roman" panose="02020603050405020304" pitchFamily="18" charset="0"/>
              </a:rPr>
              <a:t>[34] K. </a:t>
            </a:r>
            <a:r>
              <a:rPr lang="en-US" sz="1200" dirty="0" err="1">
                <a:latin typeface="Times New Roman" panose="02020603050405020304" pitchFamily="18" charset="0"/>
                <a:cs typeface="Times New Roman" panose="02020603050405020304" pitchFamily="18" charset="0"/>
              </a:rPr>
              <a:t>Shu</a:t>
            </a:r>
            <a:r>
              <a:rPr lang="en-US" sz="1200" dirty="0">
                <a:latin typeface="Times New Roman" panose="02020603050405020304" pitchFamily="18" charset="0"/>
                <a:cs typeface="Times New Roman" panose="02020603050405020304" pitchFamily="18" charset="0"/>
              </a:rPr>
              <a:t>, A. </a:t>
            </a:r>
            <a:r>
              <a:rPr lang="en-US" sz="1200" dirty="0" err="1">
                <a:latin typeface="Times New Roman" panose="02020603050405020304" pitchFamily="18" charset="0"/>
                <a:cs typeface="Times New Roman" panose="02020603050405020304" pitchFamily="18" charset="0"/>
              </a:rPr>
              <a:t>Sliva</a:t>
            </a:r>
            <a:r>
              <a:rPr lang="en-US" sz="1200" dirty="0">
                <a:latin typeface="Times New Roman" panose="02020603050405020304" pitchFamily="18" charset="0"/>
                <a:cs typeface="Times New Roman" panose="02020603050405020304" pitchFamily="18" charset="0"/>
              </a:rPr>
              <a:t>, S. Wang, J. Tang, en H. Liu, “Fake news detection on social media: A data mining perspective”, </a:t>
            </a:r>
            <a:r>
              <a:rPr lang="en-US" sz="1200" dirty="0" err="1">
                <a:latin typeface="Times New Roman" panose="02020603050405020304" pitchFamily="18" charset="0"/>
                <a:cs typeface="Times New Roman" panose="02020603050405020304" pitchFamily="18" charset="0"/>
              </a:rPr>
              <a:t>arXiv</a:t>
            </a:r>
            <a:r>
              <a:rPr lang="en-US" sz="1200" dirty="0">
                <a:latin typeface="Times New Roman" panose="02020603050405020304" pitchFamily="18" charset="0"/>
                <a:cs typeface="Times New Roman" panose="02020603050405020304" pitchFamily="18" charset="0"/>
              </a:rPr>
              <a:t> [cs.SI], pp.22-36, 2017.</a:t>
            </a:r>
          </a:p>
          <a:p>
            <a:pPr marL="12700" marR="5080" algn="just">
              <a:lnSpc>
                <a:spcPct val="143800"/>
              </a:lnSpc>
              <a:spcBef>
                <a:spcPts val="105"/>
              </a:spcBef>
            </a:pPr>
            <a:r>
              <a:rPr lang="en-US" sz="1200" dirty="0">
                <a:latin typeface="Times New Roman" panose="02020603050405020304" pitchFamily="18" charset="0"/>
                <a:cs typeface="Times New Roman" panose="02020603050405020304" pitchFamily="18" charset="0"/>
              </a:rPr>
              <a:t>[35] https://www.kaggle.com/datasets [Online], Accessed Date: 1-January-2022.</a:t>
            </a:r>
          </a:p>
        </p:txBody>
      </p:sp>
      <p:sp>
        <p:nvSpPr>
          <p:cNvPr id="3" name="Slide Number Placeholder 2">
            <a:extLst>
              <a:ext uri="{FF2B5EF4-FFF2-40B4-BE49-F238E27FC236}">
                <a16:creationId xmlns="" xmlns:a16="http://schemas.microsoft.com/office/drawing/2014/main" id="{E81394CB-F573-407F-88C6-F5A6DC2EF9CA}"/>
              </a:ext>
            </a:extLst>
          </p:cNvPr>
          <p:cNvSpPr>
            <a:spLocks noGrp="1"/>
          </p:cNvSpPr>
          <p:nvPr>
            <p:ph type="sldNum" sz="quarter" idx="7"/>
          </p:nvPr>
        </p:nvSpPr>
        <p:spPr/>
        <p:txBody>
          <a:bodyPr/>
          <a:lstStyle/>
          <a:p>
            <a:fld id="{B6F15528-21DE-4FAA-801E-634DDDAF4B2B}" type="slidenum">
              <a:rPr lang="x-none" smtClean="0"/>
              <a:t>8</a:t>
            </a:fld>
            <a:endParaRPr lang="x-none"/>
          </a:p>
        </p:txBody>
      </p:sp>
      <p:sp>
        <p:nvSpPr>
          <p:cNvPr id="15" name="Footer Placeholder 7">
            <a:extLst>
              <a:ext uri="{FF2B5EF4-FFF2-40B4-BE49-F238E27FC236}">
                <a16:creationId xmlns="" xmlns:a16="http://schemas.microsoft.com/office/drawing/2014/main" id="{7E4D364E-C2C4-4992-A9EE-6524CA64BF4A}"/>
              </a:ext>
            </a:extLst>
          </p:cNvPr>
          <p:cNvSpPr>
            <a:spLocks noGrp="1"/>
          </p:cNvSpPr>
          <p:nvPr>
            <p:ph type="ftr" sz="quarter" idx="5"/>
          </p:nvPr>
        </p:nvSpPr>
        <p:spPr>
          <a:xfrm>
            <a:off x="2835910" y="6276924"/>
            <a:ext cx="6284595" cy="359073"/>
          </a:xfrm>
        </p:spPr>
        <p:txBody>
          <a:bodyPr/>
          <a:lstStyle/>
          <a:p>
            <a:pPr algn="ctr">
              <a:lnSpc>
                <a:spcPts val="1435"/>
              </a:lnSpc>
            </a:pPr>
            <a:r>
              <a:rPr lang="en-US" dirty="0"/>
              <a:t>FYP Presentation 1, Department of Computer Science, </a:t>
            </a:r>
            <a:r>
              <a:rPr lang="en-US" dirty="0" err="1"/>
              <a:t>Barani</a:t>
            </a:r>
            <a:r>
              <a:rPr lang="en-US" dirty="0"/>
              <a:t> Institute of Management Sciences, Rawalpindi </a:t>
            </a:r>
            <a:endParaRPr lang="en-US" spc="-5" dirty="0"/>
          </a:p>
        </p:txBody>
      </p:sp>
    </p:spTree>
    <p:extLst>
      <p:ext uri="{BB962C8B-B14F-4D97-AF65-F5344CB8AC3E}">
        <p14:creationId xmlns:p14="http://schemas.microsoft.com/office/powerpoint/2010/main" val="148304074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72bfaa11-99c6-498c-857f-9dce0584d807">
      <UserInfo>
        <DisplayName>Graduate Program Members</DisplayName>
        <AccountId>7</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A2FC6D46D9CA94A908574E96ACAE827" ma:contentTypeVersion="10" ma:contentTypeDescription="Create a new document." ma:contentTypeScope="" ma:versionID="0e31cd35e8032ebd9045e102ebce3542">
  <xsd:schema xmlns:xsd="http://www.w3.org/2001/XMLSchema" xmlns:xs="http://www.w3.org/2001/XMLSchema" xmlns:p="http://schemas.microsoft.com/office/2006/metadata/properties" xmlns:ns2="048d7129-d959-4121-ad64-d390d2e84076" xmlns:ns3="72bfaa11-99c6-498c-857f-9dce0584d807" targetNamespace="http://schemas.microsoft.com/office/2006/metadata/properties" ma:root="true" ma:fieldsID="735e4d3af72da288468d3ac36890037d" ns2:_="" ns3:_="">
    <xsd:import namespace="048d7129-d959-4121-ad64-d390d2e84076"/>
    <xsd:import namespace="72bfaa11-99c6-498c-857f-9dce0584d80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8d7129-d959-4121-ad64-d390d2e840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2bfaa11-99c6-498c-857f-9dce0584d807"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7A3023-05EC-49F0-9D3F-78DBA0FB32A1}">
  <ds:schemaRefs>
    <ds:schemaRef ds:uri="http://www.w3.org/XML/1998/namespace"/>
    <ds:schemaRef ds:uri="http://schemas.microsoft.com/office/2006/documentManagement/types"/>
    <ds:schemaRef ds:uri="http://purl.org/dc/dcmitype/"/>
    <ds:schemaRef ds:uri="http://purl.org/dc/terms/"/>
    <ds:schemaRef ds:uri="http://purl.org/dc/elements/1.1/"/>
    <ds:schemaRef ds:uri="048d7129-d959-4121-ad64-d390d2e84076"/>
    <ds:schemaRef ds:uri="http://schemas.microsoft.com/office/2006/metadata/properties"/>
    <ds:schemaRef ds:uri="http://schemas.openxmlformats.org/package/2006/metadata/core-properties"/>
    <ds:schemaRef ds:uri="http://schemas.microsoft.com/office/infopath/2007/PartnerControls"/>
    <ds:schemaRef ds:uri="72bfaa11-99c6-498c-857f-9dce0584d807"/>
  </ds:schemaRefs>
</ds:datastoreItem>
</file>

<file path=customXml/itemProps2.xml><?xml version="1.0" encoding="utf-8"?>
<ds:datastoreItem xmlns:ds="http://schemas.openxmlformats.org/officeDocument/2006/customXml" ds:itemID="{217B91FE-9E32-40EB-A23B-310C73BCE99F}">
  <ds:schemaRefs>
    <ds:schemaRef ds:uri="http://schemas.microsoft.com/sharepoint/v3/contenttype/forms"/>
  </ds:schemaRefs>
</ds:datastoreItem>
</file>

<file path=customXml/itemProps3.xml><?xml version="1.0" encoding="utf-8"?>
<ds:datastoreItem xmlns:ds="http://schemas.openxmlformats.org/officeDocument/2006/customXml" ds:itemID="{6A796F07-EB3B-4EE7-886F-F4117F511B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8d7129-d959-4121-ad64-d390d2e84076"/>
    <ds:schemaRef ds:uri="72bfaa11-99c6-498c-857f-9dce0584d80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2732</TotalTime>
  <Words>1503</Words>
  <Application>Microsoft Office PowerPoint</Application>
  <PresentationFormat>Widescreen</PresentationFormat>
  <Paragraphs>85</Paragraphs>
  <Slides>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Symbol</vt:lpstr>
      <vt:lpstr>Times New Roman</vt:lpstr>
      <vt:lpstr>Office Theme</vt:lpstr>
      <vt:lpstr>Tourism App</vt:lpstr>
      <vt:lpstr>Introduction </vt:lpstr>
      <vt:lpstr>Existing Systems </vt:lpstr>
      <vt:lpstr>Problem Statement</vt:lpstr>
      <vt:lpstr>Proposed Solution (System Model)</vt:lpstr>
      <vt:lpstr>Tools and Technology</vt:lpstr>
      <vt:lpstr>Significance</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Middleware for Sensor networks</dc:title>
  <dc:creator>Owner</dc:creator>
  <cp:lastModifiedBy>Microsoft account</cp:lastModifiedBy>
  <cp:revision>148</cp:revision>
  <dcterms:created xsi:type="dcterms:W3CDTF">2021-03-13T08:41:48Z</dcterms:created>
  <dcterms:modified xsi:type="dcterms:W3CDTF">2024-11-07T04:53:49Z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2021-03-13T00:00:00Z</vt:filetime>
  </property>
  <property fmtid="{D5CDD505-2E9C-101B-9397-08002B2CF9AE}" pid="3" name="Creator">
    <vt:lpwstr>Microsoft® Word 2016</vt:lpwstr>
  </property>
  <property fmtid="{D5CDD505-2E9C-101B-9397-08002B2CF9AE}" pid="4" name="LastSaved">
    <vt:filetime>2021-03-13T00:00:00Z</vt:filetime>
  </property>
  <property fmtid="{D5CDD505-2E9C-101B-9397-08002B2CF9AE}" pid="5" name="ContentTypeId">
    <vt:lpwstr>0x0101003A2FC6D46D9CA94A908574E96ACAE827</vt:lpwstr>
  </property>
</Properties>
</file>