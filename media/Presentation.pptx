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256" r:id="rId3"/>
    <p:sldId id="258" r:id="rId5"/>
    <p:sldId id="259" r:id="rId6"/>
    <p:sldId id="260" r:id="rId7"/>
    <p:sldId id="298" r:id="rId8"/>
    <p:sldId id="299" r:id="rId9"/>
    <p:sldId id="301" r:id="rId10"/>
    <p:sldId id="285" r:id="rId11"/>
    <p:sldId id="296" r:id="rId12"/>
    <p:sldId id="300" r:id="rId13"/>
    <p:sldId id="302" r:id="rId1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8C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showGuides="1">
      <p:cViewPr varScale="1">
        <p:scale>
          <a:sx n="66" d="100"/>
          <a:sy n="66" d="100"/>
        </p:scale>
        <p:origin x="72"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customXml" Target="../customXml/item3.xml"/><Relationship Id="rId20" Type="http://schemas.openxmlformats.org/officeDocument/2006/relationships/customXml" Target="../customXml/item2.xml"/><Relationship Id="rId2" Type="http://schemas.openxmlformats.org/officeDocument/2006/relationships/theme" Target="theme/theme1.xml"/><Relationship Id="rId19" Type="http://schemas.openxmlformats.org/officeDocument/2006/relationships/customXml" Target="../customXml/item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A203ECD1-1A39-4F0B-88A2-EB12499E963E}" type="datetimeFigureOut">
              <a:rPr lang="x-none" smtClean="0"/>
            </a:fld>
            <a:endParaRPr lang="x-none"/>
          </a:p>
        </p:txBody>
      </p:sp>
      <p:sp>
        <p:nvSpPr>
          <p:cNvPr id="4" name="Footer Placeholder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7F4C2934-52B5-479C-BBAC-536DE20938A7}" type="slidenum">
              <a:rPr lang="x-none" smtClean="0"/>
            </a:fld>
            <a:endParaRPr lang="x-none"/>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7572D57-DAB4-41BC-A05D-A71D86DA5C08}" type="datetimeFigureOut">
              <a:rPr lang="en-GB" smtClean="0"/>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078BE82-CA5A-4F93-AE93-A0E47A2A050A}" type="slidenum">
              <a:rPr lang="en-GB" smtClean="0"/>
            </a:fld>
            <a:endParaRPr lang="en-GB"/>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78BE82-CA5A-4F93-AE93-A0E47A2A050A}"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1- main</a:t>
            </a:r>
            <a:r>
              <a:rPr lang="en-GB" baseline="0" dirty="0" smtClean="0"/>
              <a:t> usage social media </a:t>
            </a:r>
            <a:endParaRPr lang="en-GB" baseline="0" dirty="0" smtClean="0"/>
          </a:p>
          <a:p>
            <a:r>
              <a:rPr lang="en-GB" baseline="0" dirty="0" smtClean="0"/>
              <a:t>2- twitter </a:t>
            </a:r>
            <a:r>
              <a:rPr lang="en-GB" baseline="0" dirty="0" err="1" smtClean="0"/>
              <a:t>facebook</a:t>
            </a:r>
            <a:endParaRPr lang="en-GB" baseline="0" dirty="0" smtClean="0"/>
          </a:p>
          <a:p>
            <a:r>
              <a:rPr lang="en-GB" baseline="0" dirty="0" smtClean="0"/>
              <a:t>3- usage of </a:t>
            </a:r>
            <a:r>
              <a:rPr lang="en-GB" baseline="0" dirty="0" err="1" smtClean="0"/>
              <a:t>twiiter</a:t>
            </a:r>
            <a:r>
              <a:rPr lang="en-GB" baseline="0" dirty="0" smtClean="0"/>
              <a:t> entertainment</a:t>
            </a:r>
            <a:endParaRPr lang="en-GB" baseline="0" dirty="0" smtClean="0"/>
          </a:p>
          <a:p>
            <a:r>
              <a:rPr lang="en-GB" baseline="0" dirty="0" smtClean="0"/>
              <a:t>4- share </a:t>
            </a:r>
            <a:r>
              <a:rPr lang="en-GB" baseline="0" dirty="0" err="1" smtClean="0"/>
              <a:t>karty</a:t>
            </a:r>
            <a:r>
              <a:rPr lang="en-GB" baseline="0" dirty="0" smtClean="0"/>
              <a:t> </a:t>
            </a:r>
            <a:r>
              <a:rPr lang="en-GB" baseline="0" dirty="0" err="1" smtClean="0"/>
              <a:t>hain</a:t>
            </a:r>
            <a:r>
              <a:rPr lang="en-GB" baseline="0" dirty="0" smtClean="0"/>
              <a:t> </a:t>
            </a:r>
            <a:r>
              <a:rPr lang="en-GB" baseline="0" smtClean="0"/>
              <a:t>news without </a:t>
            </a:r>
            <a:r>
              <a:rPr lang="en-GB" baseline="0" dirty="0" smtClean="0"/>
              <a:t>authentication of current affairs</a:t>
            </a:r>
            <a:endParaRPr lang="en-GB" baseline="0" dirty="0" smtClean="0"/>
          </a:p>
          <a:p>
            <a:r>
              <a:rPr lang="en-GB" baseline="0" dirty="0" smtClean="0"/>
              <a:t>5- schemers is </a:t>
            </a:r>
            <a:r>
              <a:rPr lang="en-GB" baseline="0" dirty="0" err="1" smtClean="0"/>
              <a:t>ka</a:t>
            </a:r>
            <a:r>
              <a:rPr lang="en-GB" baseline="0" dirty="0" smtClean="0"/>
              <a:t> </a:t>
            </a:r>
            <a:r>
              <a:rPr lang="en-GB" baseline="0" dirty="0" err="1" smtClean="0"/>
              <a:t>faida</a:t>
            </a:r>
            <a:r>
              <a:rPr lang="en-GB" baseline="0" dirty="0" smtClean="0"/>
              <a:t> </a:t>
            </a:r>
            <a:r>
              <a:rPr lang="en-GB" baseline="0" dirty="0" err="1" smtClean="0"/>
              <a:t>uthaty</a:t>
            </a:r>
            <a:r>
              <a:rPr lang="en-GB" baseline="0" dirty="0" smtClean="0"/>
              <a:t> </a:t>
            </a:r>
            <a:r>
              <a:rPr lang="en-GB" baseline="0" dirty="0" err="1" smtClean="0"/>
              <a:t>hain</a:t>
            </a:r>
            <a:r>
              <a:rPr lang="en-GB" baseline="0" dirty="0" smtClean="0"/>
              <a:t> yeah 1 thread ha</a:t>
            </a:r>
            <a:endParaRPr lang="en-GB" baseline="0" dirty="0" smtClean="0"/>
          </a:p>
          <a:p>
            <a:r>
              <a:rPr lang="en-GB" baseline="0" dirty="0" smtClean="0"/>
              <a:t>6- </a:t>
            </a:r>
            <a:r>
              <a:rPr lang="en-GB" baseline="0" dirty="0" err="1" smtClean="0"/>
              <a:t>isko</a:t>
            </a:r>
            <a:r>
              <a:rPr lang="en-GB" baseline="0" dirty="0" smtClean="0"/>
              <a:t> overcome </a:t>
            </a:r>
            <a:r>
              <a:rPr lang="en-GB" baseline="0" dirty="0" err="1" smtClean="0"/>
              <a:t>karnay</a:t>
            </a:r>
            <a:r>
              <a:rPr lang="en-GB" baseline="0" dirty="0" smtClean="0"/>
              <a:t> </a:t>
            </a:r>
            <a:r>
              <a:rPr lang="en-GB" baseline="0" dirty="0" err="1" smtClean="0"/>
              <a:t>kay</a:t>
            </a:r>
            <a:r>
              <a:rPr lang="en-GB" baseline="0" dirty="0" smtClean="0"/>
              <a:t> </a:t>
            </a:r>
            <a:r>
              <a:rPr lang="en-GB" baseline="0" dirty="0" err="1" smtClean="0"/>
              <a:t>liay</a:t>
            </a:r>
            <a:r>
              <a:rPr lang="en-GB" baseline="0" dirty="0" smtClean="0"/>
              <a:t> </a:t>
            </a:r>
            <a:r>
              <a:rPr lang="en-GB" baseline="0" dirty="0" err="1" smtClean="0"/>
              <a:t>bohat</a:t>
            </a:r>
            <a:r>
              <a:rPr lang="en-GB" baseline="0" dirty="0" smtClean="0"/>
              <a:t> say </a:t>
            </a:r>
            <a:r>
              <a:rPr lang="en-GB" baseline="0" dirty="0" err="1" smtClean="0"/>
              <a:t>reserachers</a:t>
            </a:r>
            <a:r>
              <a:rPr lang="en-GB" baseline="0" dirty="0" smtClean="0"/>
              <a:t> nay different techniques use </a:t>
            </a:r>
            <a:r>
              <a:rPr lang="en-GB" baseline="0" dirty="0" err="1" smtClean="0"/>
              <a:t>ki</a:t>
            </a:r>
            <a:r>
              <a:rPr lang="en-GB" baseline="0" dirty="0" smtClean="0"/>
              <a:t> </a:t>
            </a:r>
            <a:r>
              <a:rPr lang="en-GB" baseline="0" dirty="0" err="1" smtClean="0"/>
              <a:t>hain</a:t>
            </a:r>
            <a:r>
              <a:rPr lang="en-GB" baseline="0" dirty="0" smtClean="0"/>
              <a:t> </a:t>
            </a:r>
            <a:r>
              <a:rPr lang="en-GB" baseline="0" dirty="0" err="1" smtClean="0"/>
              <a:t>isay</a:t>
            </a:r>
            <a:r>
              <a:rPr lang="en-GB" baseline="0" dirty="0" smtClean="0"/>
              <a:t> overcome </a:t>
            </a:r>
            <a:r>
              <a:rPr lang="en-GB" baseline="0" dirty="0" err="1" smtClean="0"/>
              <a:t>karny</a:t>
            </a:r>
            <a:r>
              <a:rPr lang="en-GB" baseline="0" dirty="0" smtClean="0"/>
              <a:t> </a:t>
            </a:r>
            <a:r>
              <a:rPr lang="en-GB" baseline="0" dirty="0" err="1" smtClean="0"/>
              <a:t>ky</a:t>
            </a:r>
            <a:r>
              <a:rPr lang="en-GB" baseline="0" dirty="0" smtClean="0"/>
              <a:t> </a:t>
            </a:r>
            <a:r>
              <a:rPr lang="en-GB" baseline="0" dirty="0" err="1" smtClean="0"/>
              <a:t>liay</a:t>
            </a:r>
            <a:endParaRPr lang="en-GB" baseline="0" dirty="0" smtClean="0"/>
          </a:p>
          <a:p>
            <a:endParaRPr lang="en-GB" baseline="0" dirty="0" smtClean="0"/>
          </a:p>
          <a:p>
            <a:endParaRPr lang="en-GB" dirty="0"/>
          </a:p>
        </p:txBody>
      </p:sp>
      <p:sp>
        <p:nvSpPr>
          <p:cNvPr id="4" name="Slide Number Placeholder 3"/>
          <p:cNvSpPr>
            <a:spLocks noGrp="1"/>
          </p:cNvSpPr>
          <p:nvPr>
            <p:ph type="sldNum" sz="quarter" idx="5"/>
          </p:nvPr>
        </p:nvSpPr>
        <p:spPr/>
        <p:txBody>
          <a:bodyPr/>
          <a:lstStyle/>
          <a:p>
            <a:fld id="{0078BE82-CA5A-4F93-AE93-A0E47A2A050A}" type="slidenum">
              <a:rPr lang="en-GB" smtClean="0"/>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
        <p:nvSpPr>
          <p:cNvPr id="4" name="Slide Number Placeholder 3"/>
          <p:cNvSpPr>
            <a:spLocks noGrp="1"/>
          </p:cNvSpPr>
          <p:nvPr>
            <p:ph type="sldNum" sz="quarter" idx="5"/>
          </p:nvPr>
        </p:nvSpPr>
        <p:spPr/>
        <p:txBody>
          <a:bodyPr/>
          <a:p>
            <a:fld id="{0078BE82-CA5A-4F93-AE93-A0E47A2A050A}"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400" b="0" i="0">
                <a:solidFill>
                  <a:schemeClr val="bg1"/>
                </a:solidFill>
                <a:latin typeface="Calibri" panose="020F0502020204030204"/>
                <a:cs typeface="Calibri" panose="020F0502020204030204"/>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743384F-72EA-4CCE-9D58-995F7425DAC7}" type="datetime1">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2400" b="1" i="0">
                <a:solidFill>
                  <a:srgbClr val="0462C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defRPr sz="1400" b="0" i="0">
                <a:solidFill>
                  <a:schemeClr val="bg1"/>
                </a:solidFill>
                <a:latin typeface="Calibri" panose="020F0502020204030204"/>
                <a:cs typeface="Calibri" panose="020F0502020204030204"/>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4653E61-21EF-44DB-8D1B-61D7922FCBB9}" type="datetime1">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400" b="0" i="0">
                <a:solidFill>
                  <a:schemeClr val="bg1"/>
                </a:solidFill>
                <a:latin typeface="Calibri" panose="020F0502020204030204"/>
                <a:cs typeface="Calibri" panose="020F0502020204030204"/>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BD2C6809-8E92-46A9-86D6-8CC94CDD8A76}" type="datetime1">
              <a:rPr lang="en-US" smtClean="0"/>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defRPr sz="1400" b="0" i="0">
                <a:solidFill>
                  <a:schemeClr val="bg1"/>
                </a:solidFill>
                <a:latin typeface="Calibri" panose="020F0502020204030204"/>
                <a:cs typeface="Calibri" panose="020F0502020204030204"/>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48508F5-5CD3-4ED2-867A-61C994028D7E}" type="datetime1">
              <a:rPr lang="en-US" smtClean="0"/>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chemeClr val="bg1"/>
                </a:solidFill>
                <a:latin typeface="Calibri" panose="020F0502020204030204"/>
                <a:cs typeface="Calibri" panose="020F0502020204030204"/>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8CD2A4C-4BC6-430D-AE4D-C5C62FCEEAD3}" type="datetime1">
              <a:rPr lang="en-US" smtClean="0"/>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p:txBody>
      </p:sp>
      <p:sp>
        <p:nvSpPr>
          <p:cNvPr id="17" name="bk object 17"/>
          <p:cNvSpPr/>
          <p:nvPr/>
        </p:nvSpPr>
        <p:spPr>
          <a:xfrm>
            <a:off x="2539238" y="6254191"/>
            <a:ext cx="6875780" cy="216535"/>
          </a:xfrm>
          <a:custGeom>
            <a:avLst/>
            <a:gdLst/>
            <a:ahLst/>
            <a:cxnLst/>
            <a:rect l="l" t="t" r="r" b="b"/>
            <a:pathLst>
              <a:path w="6875780" h="216535">
                <a:moveTo>
                  <a:pt x="0" y="216407"/>
                </a:moveTo>
                <a:lnTo>
                  <a:pt x="6875398" y="216407"/>
                </a:lnTo>
                <a:lnTo>
                  <a:pt x="6875398" y="0"/>
                </a:lnTo>
                <a:lnTo>
                  <a:pt x="0" y="0"/>
                </a:lnTo>
                <a:lnTo>
                  <a:pt x="0" y="216407"/>
                </a:lnTo>
                <a:close/>
              </a:path>
            </a:pathLst>
          </a:custGeom>
          <a:solidFill>
            <a:srgbClr val="1D9A78"/>
          </a:solidFill>
        </p:spPr>
        <p:txBody>
          <a:bodyPr wrap="square" lIns="0" tIns="0" rIns="0" bIns="0" rtlCol="0"/>
          <a:lstStyle/>
          <a:p/>
        </p:txBody>
      </p:sp>
      <p:sp>
        <p:nvSpPr>
          <p:cNvPr id="18" name="bk object 18"/>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p:txBody>
      </p:sp>
      <p:sp>
        <p:nvSpPr>
          <p:cNvPr id="19" name="bk object 19"/>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p:txBody>
      </p:sp>
      <p:sp>
        <p:nvSpPr>
          <p:cNvPr id="20" name="bk object 20"/>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p:txBody>
      </p:sp>
      <p:sp>
        <p:nvSpPr>
          <p:cNvPr id="21" name="bk object 21"/>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22" name="bk object 22"/>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p:txBody>
      </p:sp>
      <p:sp>
        <p:nvSpPr>
          <p:cNvPr id="23" name="bk object 23"/>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2" name="Holder 2"/>
          <p:cNvSpPr>
            <a:spLocks noGrp="1"/>
          </p:cNvSpPr>
          <p:nvPr>
            <p:ph type="title"/>
          </p:nvPr>
        </p:nvSpPr>
        <p:spPr>
          <a:xfrm>
            <a:off x="3700525" y="880618"/>
            <a:ext cx="4790948" cy="988694"/>
          </a:xfrm>
          <a:prstGeom prst="rect">
            <a:avLst/>
          </a:prstGeom>
        </p:spPr>
        <p:txBody>
          <a:bodyPr wrap="square" lIns="0" tIns="0" rIns="0" bIns="0">
            <a:spAutoFit/>
          </a:bodyPr>
          <a:lstStyle>
            <a:lvl1pPr>
              <a:defRPr sz="30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2777871" y="2688462"/>
            <a:ext cx="6636257" cy="2675254"/>
          </a:xfrm>
          <a:prstGeom prst="rect">
            <a:avLst/>
          </a:prstGeom>
        </p:spPr>
        <p:txBody>
          <a:bodyPr wrap="square" lIns="0" tIns="0" rIns="0" bIns="0">
            <a:spAutoFit/>
          </a:bodyPr>
          <a:lstStyle>
            <a:lvl1pPr>
              <a:defRPr sz="2400" b="1" i="0">
                <a:solidFill>
                  <a:srgbClr val="0462C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2835910" y="6276924"/>
            <a:ext cx="6284595" cy="394980"/>
          </a:xfrm>
          <a:prstGeom prst="rect">
            <a:avLst/>
          </a:prstGeom>
        </p:spPr>
        <p:txBody>
          <a:bodyPr wrap="square" lIns="0" tIns="0" rIns="0" bIns="0">
            <a:spAutoFit/>
          </a:bodyPr>
          <a:lstStyle>
            <a:lvl1pPr>
              <a:defRPr sz="1400" b="0" i="0">
                <a:solidFill>
                  <a:schemeClr val="bg1"/>
                </a:solidFill>
                <a:latin typeface="Calibri" panose="020F0502020204030204"/>
                <a:cs typeface="Calibri" panose="020F0502020204030204"/>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CAA99EAD-80B1-4D15-891B-334D736D0BFF}" type="datetime1">
              <a:rPr lang="en-US" smtClean="0"/>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699261"/>
            <a:ext cx="7225665" cy="1120140"/>
          </a:xfrm>
          <a:prstGeom prst="rect">
            <a:avLst/>
          </a:prstGeom>
        </p:spPr>
        <p:txBody>
          <a:bodyPr vert="horz" wrap="square" lIns="0" tIns="12700" rIns="0" bIns="0" rtlCol="0">
            <a:spAutoFit/>
          </a:bodyPr>
          <a:lstStyle/>
          <a:p>
            <a:pPr algn="ctr">
              <a:lnSpc>
                <a:spcPct val="100000"/>
              </a:lnSpc>
              <a:spcBef>
                <a:spcPts val="100"/>
              </a:spcBef>
            </a:pPr>
            <a:r>
              <a:rPr lang="en-US" sz="3600" spc="-5" dirty="0" smtClean="0"/>
              <a:t>Smart Client Session Management System</a:t>
            </a:r>
            <a:endParaRPr sz="3600" dirty="0"/>
          </a:p>
        </p:txBody>
      </p:sp>
      <p:sp>
        <p:nvSpPr>
          <p:cNvPr id="3" name="object 3"/>
          <p:cNvSpPr txBox="1">
            <a:spLocks noGrp="1"/>
          </p:cNvSpPr>
          <p:nvPr>
            <p:ph type="body" idx="1"/>
          </p:nvPr>
        </p:nvSpPr>
        <p:spPr>
          <a:xfrm>
            <a:off x="2778125" y="1828800"/>
            <a:ext cx="6636385" cy="4495800"/>
          </a:xfrm>
          <a:prstGeom prst="rect">
            <a:avLst/>
          </a:prstGeom>
        </p:spPr>
        <p:txBody>
          <a:bodyPr vert="horz" wrap="square" lIns="0" tIns="139065" rIns="0" bIns="0" rtlCol="0">
            <a:noAutofit/>
          </a:bodyPr>
          <a:lstStyle/>
          <a:p>
            <a:pPr marL="676275" marR="590550" algn="ctr">
              <a:lnSpc>
                <a:spcPct val="100000"/>
              </a:lnSpc>
              <a:spcBef>
                <a:spcPts val="1095"/>
              </a:spcBef>
            </a:pPr>
            <a:r>
              <a:rPr lang="en-GB" spc="-5" dirty="0" smtClean="0">
                <a:solidFill>
                  <a:srgbClr val="3A8C6B"/>
                </a:solidFill>
              </a:rPr>
              <a:t>Muhammad Ali </a:t>
            </a:r>
            <a:r>
              <a:rPr b="0" spc="-5" dirty="0" smtClean="0">
                <a:solidFill>
                  <a:srgbClr val="000000"/>
                </a:solidFill>
                <a:latin typeface="Times New Roman" panose="02020603050405020304"/>
                <a:cs typeface="Times New Roman" panose="02020603050405020304"/>
              </a:rPr>
              <a:t>(</a:t>
            </a:r>
            <a:r>
              <a:rPr lang="en-US" b="0" spc="-5" dirty="0" smtClean="0">
                <a:solidFill>
                  <a:srgbClr val="000000"/>
                </a:solidFill>
                <a:latin typeface="Times New Roman" panose="02020603050405020304"/>
                <a:cs typeface="Times New Roman" panose="02020603050405020304"/>
              </a:rPr>
              <a:t>22</a:t>
            </a:r>
            <a:r>
              <a:rPr b="0" spc="-5" dirty="0" smtClean="0">
                <a:solidFill>
                  <a:srgbClr val="000000"/>
                </a:solidFill>
                <a:latin typeface="Times New Roman" panose="02020603050405020304"/>
                <a:cs typeface="Times New Roman" panose="02020603050405020304"/>
              </a:rPr>
              <a:t>-</a:t>
            </a:r>
            <a:r>
              <a:rPr lang="en-US" b="0" spc="-5" dirty="0" smtClean="0">
                <a:solidFill>
                  <a:srgbClr val="000000"/>
                </a:solidFill>
              </a:rPr>
              <a:t>Arid</a:t>
            </a:r>
            <a:r>
              <a:rPr lang="en-US" b="0" spc="-5" dirty="0" smtClean="0">
                <a:solidFill>
                  <a:srgbClr val="000000"/>
                </a:solidFill>
              </a:rPr>
              <a:t>-5403</a:t>
            </a:r>
            <a:r>
              <a:rPr b="0" spc="-5" dirty="0" smtClean="0">
                <a:solidFill>
                  <a:srgbClr val="000000"/>
                </a:solidFill>
                <a:latin typeface="Times New Roman" panose="02020603050405020304"/>
                <a:cs typeface="Times New Roman" panose="02020603050405020304"/>
              </a:rPr>
              <a:t>)</a:t>
            </a:r>
            <a:endParaRPr lang="en-US" b="0" spc="-5" dirty="0" smtClean="0">
              <a:solidFill>
                <a:srgbClr val="000000"/>
              </a:solidFill>
              <a:latin typeface="Times New Roman" panose="02020603050405020304"/>
              <a:cs typeface="Times New Roman" panose="02020603050405020304"/>
            </a:endParaRPr>
          </a:p>
          <a:p>
            <a:pPr marL="676275" marR="590550" algn="ctr">
              <a:lnSpc>
                <a:spcPct val="100000"/>
              </a:lnSpc>
              <a:spcBef>
                <a:spcPts val="1095"/>
              </a:spcBef>
            </a:pPr>
            <a:r>
              <a:rPr lang="en-US" altLang="en-GB" spc="-5" dirty="0">
                <a:solidFill>
                  <a:srgbClr val="3A8C6B"/>
                </a:solidFill>
              </a:rPr>
              <a:t>Haider Ali</a:t>
            </a:r>
            <a:r>
              <a:rPr lang="en-GB" b="0" spc="-5" dirty="0">
                <a:solidFill>
                  <a:srgbClr val="000000"/>
                </a:solidFill>
              </a:rPr>
              <a:t>(</a:t>
            </a:r>
            <a:r>
              <a:rPr lang="en-US" altLang="en-GB" b="0" spc="-5" dirty="0">
                <a:solidFill>
                  <a:srgbClr val="000000"/>
                </a:solidFill>
              </a:rPr>
              <a:t>22</a:t>
            </a:r>
            <a:r>
              <a:rPr lang="en-GB" b="0" spc="-5" dirty="0">
                <a:solidFill>
                  <a:srgbClr val="000000"/>
                </a:solidFill>
              </a:rPr>
              <a:t>-Arid-</a:t>
            </a:r>
            <a:r>
              <a:rPr lang="en-US" altLang="en-GB" b="0" spc="-5" dirty="0">
                <a:solidFill>
                  <a:srgbClr val="000000"/>
                </a:solidFill>
              </a:rPr>
              <a:t>5354</a:t>
            </a:r>
            <a:r>
              <a:rPr lang="en-GB" b="0" spc="-5" dirty="0" smtClean="0">
                <a:solidFill>
                  <a:srgbClr val="000000"/>
                </a:solidFill>
              </a:rPr>
              <a:t>)</a:t>
            </a:r>
            <a:endParaRPr lang="en-GB" b="0" spc="-5" dirty="0" smtClean="0">
              <a:solidFill>
                <a:srgbClr val="000000"/>
              </a:solidFill>
            </a:endParaRPr>
          </a:p>
          <a:p>
            <a:pPr marL="676275" marR="590550" algn="ctr">
              <a:lnSpc>
                <a:spcPct val="100000"/>
              </a:lnSpc>
              <a:spcBef>
                <a:spcPts val="1095"/>
              </a:spcBef>
            </a:pPr>
            <a:r>
              <a:rPr lang="en-US" altLang="en-GB" spc="-5" dirty="0">
                <a:solidFill>
                  <a:srgbClr val="3A8C6B"/>
                </a:solidFill>
                <a:sym typeface="+mn-ea"/>
              </a:rPr>
              <a:t>M Umer Farooq</a:t>
            </a:r>
            <a:r>
              <a:rPr lang="en-GB" b="0" spc="-5" dirty="0">
                <a:solidFill>
                  <a:srgbClr val="000000"/>
                </a:solidFill>
                <a:sym typeface="+mn-ea"/>
              </a:rPr>
              <a:t>(</a:t>
            </a:r>
            <a:r>
              <a:rPr lang="en-US" altLang="en-GB" b="0" spc="-5" dirty="0">
                <a:solidFill>
                  <a:srgbClr val="000000"/>
                </a:solidFill>
                <a:sym typeface="+mn-ea"/>
              </a:rPr>
              <a:t>22</a:t>
            </a:r>
            <a:r>
              <a:rPr lang="en-GB" b="0" spc="-5" dirty="0">
                <a:solidFill>
                  <a:srgbClr val="000000"/>
                </a:solidFill>
                <a:sym typeface="+mn-ea"/>
              </a:rPr>
              <a:t>-Arid-</a:t>
            </a:r>
            <a:r>
              <a:rPr lang="en-US" altLang="en-GB" b="0" spc="-5" dirty="0">
                <a:solidFill>
                  <a:srgbClr val="000000"/>
                </a:solidFill>
                <a:sym typeface="+mn-ea"/>
              </a:rPr>
              <a:t>5438</a:t>
            </a:r>
            <a:r>
              <a:rPr lang="en-GB" b="0" spc="-5" dirty="0" smtClean="0">
                <a:solidFill>
                  <a:srgbClr val="000000"/>
                </a:solidFill>
                <a:sym typeface="+mn-ea"/>
              </a:rPr>
              <a:t>)</a:t>
            </a:r>
            <a:endParaRPr lang="en-GB" b="0" spc="-5" dirty="0" smtClean="0">
              <a:solidFill>
                <a:srgbClr val="000000"/>
              </a:solidFill>
            </a:endParaRPr>
          </a:p>
          <a:p>
            <a:pPr marL="676275" marR="590550" algn="ctr">
              <a:lnSpc>
                <a:spcPct val="100000"/>
              </a:lnSpc>
              <a:spcBef>
                <a:spcPts val="1095"/>
              </a:spcBef>
            </a:pPr>
            <a:r>
              <a:rPr lang="en-US" altLang="en-GB" spc="-5" dirty="0">
                <a:solidFill>
                  <a:srgbClr val="3A8C6B"/>
                </a:solidFill>
                <a:sym typeface="+mn-ea"/>
              </a:rPr>
              <a:t>Sami Hafeez</a:t>
            </a:r>
            <a:r>
              <a:rPr lang="en-GB" b="0" spc="-5" dirty="0">
                <a:solidFill>
                  <a:srgbClr val="000000"/>
                </a:solidFill>
                <a:sym typeface="+mn-ea"/>
              </a:rPr>
              <a:t>(</a:t>
            </a:r>
            <a:r>
              <a:rPr lang="en-US" altLang="en-GB" b="0" spc="-5" dirty="0">
                <a:solidFill>
                  <a:srgbClr val="000000"/>
                </a:solidFill>
                <a:sym typeface="+mn-ea"/>
              </a:rPr>
              <a:t>22</a:t>
            </a:r>
            <a:r>
              <a:rPr lang="en-GB" b="0" spc="-5" dirty="0">
                <a:solidFill>
                  <a:srgbClr val="000000"/>
                </a:solidFill>
                <a:sym typeface="+mn-ea"/>
              </a:rPr>
              <a:t>-Arid-</a:t>
            </a:r>
            <a:r>
              <a:rPr lang="en-GB" b="0" spc="-5" dirty="0" smtClean="0">
                <a:solidFill>
                  <a:srgbClr val="000000"/>
                </a:solidFill>
                <a:sym typeface="+mn-ea"/>
              </a:rPr>
              <a:t>)</a:t>
            </a:r>
            <a:endParaRPr lang="en-GB" b="0" spc="-5" dirty="0" smtClean="0">
              <a:solidFill>
                <a:srgbClr val="000000"/>
              </a:solidFill>
            </a:endParaRPr>
          </a:p>
          <a:p>
            <a:pPr marL="676275" marR="623570" algn="ctr">
              <a:lnSpc>
                <a:spcPts val="2835"/>
              </a:lnSpc>
              <a:spcBef>
                <a:spcPts val="995"/>
              </a:spcBef>
            </a:pPr>
            <a:r>
              <a:rPr sz="1600" spc="-5" dirty="0" smtClean="0">
                <a:solidFill>
                  <a:srgbClr val="000000"/>
                </a:solidFill>
              </a:rPr>
              <a:t>(</a:t>
            </a:r>
            <a:r>
              <a:rPr sz="1600" spc="-5" dirty="0">
                <a:solidFill>
                  <a:srgbClr val="000000"/>
                </a:solidFill>
              </a:rPr>
              <a:t>Date: </a:t>
            </a:r>
            <a:r>
              <a:rPr lang="en-US" sz="1600" spc="-5" dirty="0">
                <a:solidFill>
                  <a:srgbClr val="000000"/>
                </a:solidFill>
              </a:rPr>
              <a:t>1</a:t>
            </a:r>
            <a:r>
              <a:rPr lang="en-GB" sz="1600" spc="-5" dirty="0">
                <a:solidFill>
                  <a:srgbClr val="000000"/>
                </a:solidFill>
              </a:rPr>
              <a:t>4</a:t>
            </a:r>
            <a:r>
              <a:rPr sz="1600" spc="-5" dirty="0" smtClean="0">
                <a:solidFill>
                  <a:srgbClr val="000000"/>
                </a:solidFill>
              </a:rPr>
              <a:t>/</a:t>
            </a:r>
            <a:r>
              <a:rPr lang="en-US" sz="1600" spc="-5" dirty="0" smtClean="0">
                <a:solidFill>
                  <a:srgbClr val="000000"/>
                </a:solidFill>
              </a:rPr>
              <a:t>09</a:t>
            </a:r>
            <a:r>
              <a:rPr sz="1600" spc="-5" dirty="0" smtClean="0">
                <a:solidFill>
                  <a:srgbClr val="000000"/>
                </a:solidFill>
              </a:rPr>
              <a:t>/202</a:t>
            </a:r>
            <a:r>
              <a:rPr lang="en-US" sz="1600" spc="-5" dirty="0" smtClean="0">
                <a:solidFill>
                  <a:srgbClr val="000000"/>
                </a:solidFill>
              </a:rPr>
              <a:t>5</a:t>
            </a:r>
            <a:r>
              <a:rPr sz="1600" spc="-5" dirty="0">
                <a:solidFill>
                  <a:srgbClr val="000000"/>
                </a:solidFill>
              </a:rPr>
              <a:t>)</a:t>
            </a:r>
            <a:endParaRPr lang="en-US" sz="1600" dirty="0"/>
          </a:p>
          <a:p>
            <a:pPr marL="676275" marR="622300" algn="ctr">
              <a:lnSpc>
                <a:spcPct val="100000"/>
              </a:lnSpc>
              <a:spcBef>
                <a:spcPts val="195"/>
              </a:spcBef>
            </a:pPr>
            <a:r>
              <a:rPr spc="-5" dirty="0">
                <a:solidFill>
                  <a:srgbClr val="000000"/>
                </a:solidFill>
              </a:rPr>
              <a:t>Supervisor: </a:t>
            </a:r>
            <a:r>
              <a:rPr lang="en-US" spc="-5" dirty="0" smtClean="0">
                <a:solidFill>
                  <a:srgbClr val="3A8C6B"/>
                </a:solidFill>
                <a:uFill>
                  <a:solidFill>
                    <a:srgbClr val="006FC0"/>
                  </a:solidFill>
                </a:uFill>
              </a:rPr>
              <a:t>Mr Ahsan Raees</a:t>
            </a:r>
            <a:endParaRPr spc="-5" dirty="0">
              <a:solidFill>
                <a:srgbClr val="3A8C6B"/>
              </a:solidFill>
              <a:uFill>
                <a:solidFill>
                  <a:srgbClr val="006FC0"/>
                </a:solidFill>
              </a:uFill>
            </a:endParaRPr>
          </a:p>
          <a:p>
            <a:pPr marL="676275" marR="10160" algn="ctr">
              <a:lnSpc>
                <a:spcPct val="100000"/>
              </a:lnSpc>
              <a:spcBef>
                <a:spcPts val="595"/>
              </a:spcBef>
            </a:pPr>
            <a:r>
              <a:rPr sz="1600" b="0" spc="-5" dirty="0">
                <a:solidFill>
                  <a:srgbClr val="000000"/>
                </a:solidFill>
                <a:latin typeface="Times New Roman" panose="02020603050405020304"/>
                <a:cs typeface="Times New Roman" panose="02020603050405020304"/>
              </a:rPr>
              <a:t>Department of Computer</a:t>
            </a:r>
            <a:r>
              <a:rPr sz="1600" b="0" spc="5" dirty="0">
                <a:solidFill>
                  <a:srgbClr val="000000"/>
                </a:solidFill>
                <a:latin typeface="Times New Roman" panose="02020603050405020304"/>
                <a:cs typeface="Times New Roman" panose="02020603050405020304"/>
              </a:rPr>
              <a:t> </a:t>
            </a:r>
            <a:r>
              <a:rPr sz="1600" b="0" spc="-5" dirty="0">
                <a:solidFill>
                  <a:srgbClr val="000000"/>
                </a:solidFill>
                <a:latin typeface="Times New Roman" panose="02020603050405020304"/>
                <a:cs typeface="Times New Roman" panose="02020603050405020304"/>
              </a:rPr>
              <a:t>Science</a:t>
            </a:r>
            <a:endParaRPr sz="1600" dirty="0">
              <a:latin typeface="Times New Roman" panose="02020603050405020304"/>
              <a:cs typeface="Times New Roman" panose="02020603050405020304"/>
            </a:endParaRPr>
          </a:p>
          <a:p>
            <a:pPr marL="676275" algn="ctr">
              <a:lnSpc>
                <a:spcPct val="100000"/>
              </a:lnSpc>
              <a:spcBef>
                <a:spcPts val="570"/>
              </a:spcBef>
            </a:pPr>
            <a:r>
              <a:rPr lang="en-US" sz="2000" dirty="0" err="1" smtClean="0">
                <a:solidFill>
                  <a:srgbClr val="000000"/>
                </a:solidFill>
              </a:rPr>
              <a:t>Barani</a:t>
            </a:r>
            <a:r>
              <a:rPr lang="en-US" sz="2000" dirty="0" smtClean="0">
                <a:solidFill>
                  <a:srgbClr val="000000"/>
                </a:solidFill>
              </a:rPr>
              <a:t> Institute of Management Sciences, Rawalpindi</a:t>
            </a:r>
            <a:endParaRPr sz="2000" dirty="0"/>
          </a:p>
        </p:txBody>
      </p:sp>
      <p:sp>
        <p:nvSpPr>
          <p:cNvPr id="8" name="Footer Placeholder 7"/>
          <p:cNvSpPr>
            <a:spLocks noGrp="1"/>
          </p:cNvSpPr>
          <p:nvPr>
            <p:ph type="ftr" sz="quarter" idx="5"/>
          </p:nvPr>
        </p:nvSpPr>
        <p:spPr>
          <a:xfrm>
            <a:off x="2835910" y="6324600"/>
            <a:ext cx="6284595" cy="361574"/>
          </a:xfrm>
        </p:spPr>
        <p:txBody>
          <a:bodyPr/>
          <a:lstStyle/>
          <a:p>
            <a:pPr algn="ctr">
              <a:lnSpc>
                <a:spcPts val="1435"/>
              </a:lnSpc>
            </a:pPr>
            <a:r>
              <a:rPr lang="en-US" dirty="0" smtClean="0"/>
              <a:t>FYP Presentation 1, Department </a:t>
            </a:r>
            <a:r>
              <a:rPr lang="en-US" dirty="0"/>
              <a:t>of Computer Science, </a:t>
            </a:r>
            <a:r>
              <a:rPr lang="en-US" dirty="0" err="1" smtClean="0"/>
              <a:t>Barani</a:t>
            </a:r>
            <a:r>
              <a:rPr lang="en-US" dirty="0" smtClean="0"/>
              <a:t> Institute of Management Sciences, Rawalpindi </a:t>
            </a:r>
            <a:endParaRPr lang="en-US" spc="-5" dirty="0"/>
          </a:p>
        </p:txBody>
      </p:sp>
      <p:pic>
        <p:nvPicPr>
          <p:cNvPr id="10" name="Picture 9"/>
          <p:cNvPicPr/>
          <p:nvPr/>
        </p:nvPicPr>
        <p:blipFill>
          <a:blip r:embed="rId1" cstate="print">
            <a:extLst>
              <a:ext uri="{28A0092B-C50C-407E-A947-70E740481C1C}">
                <a14:useLocalDpi xmlns:a14="http://schemas.microsoft.com/office/drawing/2010/main" val="0"/>
              </a:ext>
            </a:extLst>
          </a:blip>
          <a:stretch>
            <a:fillRect/>
          </a:stretch>
        </p:blipFill>
        <p:spPr bwMode="auto">
          <a:xfrm rot="10800000" flipH="1" flipV="1">
            <a:off x="10421616" y="5334000"/>
            <a:ext cx="1465584" cy="138684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3"/>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p:txBody>
      </p:sp>
      <p:sp>
        <p:nvSpPr>
          <p:cNvPr id="18" name="object 4"/>
          <p:cNvSpPr/>
          <p:nvPr/>
        </p:nvSpPr>
        <p:spPr>
          <a:xfrm>
            <a:off x="2539238" y="6254191"/>
            <a:ext cx="6875780" cy="216535"/>
          </a:xfrm>
          <a:custGeom>
            <a:avLst/>
            <a:gdLst/>
            <a:ahLst/>
            <a:cxnLst/>
            <a:rect l="l" t="t" r="r" b="b"/>
            <a:pathLst>
              <a:path w="6875780" h="216535">
                <a:moveTo>
                  <a:pt x="0" y="216407"/>
                </a:moveTo>
                <a:lnTo>
                  <a:pt x="6875398" y="216407"/>
                </a:lnTo>
                <a:lnTo>
                  <a:pt x="6875398" y="0"/>
                </a:lnTo>
                <a:lnTo>
                  <a:pt x="0" y="0"/>
                </a:lnTo>
                <a:lnTo>
                  <a:pt x="0" y="216407"/>
                </a:lnTo>
                <a:close/>
              </a:path>
            </a:pathLst>
          </a:custGeom>
          <a:solidFill>
            <a:srgbClr val="1D9A78"/>
          </a:solidFill>
        </p:spPr>
        <p:txBody>
          <a:bodyPr wrap="square" lIns="0" tIns="0" rIns="0" bIns="0" rtlCol="0"/>
          <a:lstStyle/>
          <a:p/>
        </p:txBody>
      </p:sp>
      <p:sp>
        <p:nvSpPr>
          <p:cNvPr id="19" name="object 5"/>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p:txBody>
      </p:sp>
      <p:sp>
        <p:nvSpPr>
          <p:cNvPr id="20" name="object 6"/>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p:txBody>
      </p:sp>
      <p:sp>
        <p:nvSpPr>
          <p:cNvPr id="21" name="object 7"/>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p:txBody>
      </p:sp>
      <p:sp>
        <p:nvSpPr>
          <p:cNvPr id="22" name="object 8"/>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23" name="object 9"/>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p:txBody>
      </p:sp>
      <p:sp>
        <p:nvSpPr>
          <p:cNvPr id="24" name="object 10"/>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25" name="object 11"/>
          <p:cNvSpPr txBox="1">
            <a:spLocks noGrp="1"/>
          </p:cNvSpPr>
          <p:nvPr>
            <p:ph type="title"/>
          </p:nvPr>
        </p:nvSpPr>
        <p:spPr>
          <a:xfrm>
            <a:off x="4495800" y="479229"/>
            <a:ext cx="5943600" cy="629018"/>
          </a:xfrm>
          <a:prstGeom prst="rect">
            <a:avLst/>
          </a:prstGeom>
        </p:spPr>
        <p:txBody>
          <a:bodyPr vert="horz" wrap="square" lIns="0" tIns="13335" rIns="0" bIns="0" rtlCol="0">
            <a:spAutoFit/>
          </a:bodyPr>
          <a:lstStyle/>
          <a:p>
            <a:pPr marL="12700">
              <a:lnSpc>
                <a:spcPct val="100000"/>
              </a:lnSpc>
              <a:spcBef>
                <a:spcPts val="105"/>
              </a:spcBef>
            </a:pPr>
            <a:r>
              <a:rPr sz="4000" dirty="0"/>
              <a:t>Introduction</a:t>
            </a:r>
            <a:r>
              <a:rPr lang="en-US" sz="4000" dirty="0"/>
              <a:t> </a:t>
            </a:r>
            <a:endParaRPr sz="4000" dirty="0"/>
          </a:p>
        </p:txBody>
      </p:sp>
      <p:sp>
        <p:nvSpPr>
          <p:cNvPr id="27" name="object 12"/>
          <p:cNvSpPr txBox="1"/>
          <p:nvPr/>
        </p:nvSpPr>
        <p:spPr>
          <a:xfrm>
            <a:off x="685800" y="1524000"/>
            <a:ext cx="10896600" cy="1765300"/>
          </a:xfrm>
          <a:prstGeom prst="rect">
            <a:avLst/>
          </a:prstGeom>
        </p:spPr>
        <p:txBody>
          <a:bodyPr vert="horz" wrap="square" lIns="0" tIns="104139" rIns="0" bIns="0" rtlCol="0">
            <a:spAutoFit/>
          </a:bodyPr>
          <a:lstStyle/>
          <a:p>
            <a:pPr marL="241300" indent="-228600" algn="just">
              <a:lnSpc>
                <a:spcPct val="100000"/>
              </a:lnSpc>
              <a:spcBef>
                <a:spcPts val="820"/>
              </a:spcBef>
              <a:buFont typeface="Symbol" panose="05050102010706020507"/>
              <a:buChar char=""/>
              <a:tabLst>
                <a:tab pos="241300" algn="l"/>
              </a:tabLst>
            </a:pPr>
            <a:r>
              <a:rPr lang="en-US" altLang="en-US" dirty="0">
                <a:latin typeface="Times New Roman" panose="02020603050405020304" pitchFamily="18" charset="0"/>
                <a:cs typeface="Times New Roman" panose="02020603050405020304" pitchFamily="18" charset="0"/>
              </a:rPr>
              <a:t>In today’s digital world, user authentication and session management play a crucial role in ensuring secure access to online systems. Weak session handling often leads to vulnerabilities such as session hijacking, unauthorized access, and insecure logout. Enterprises, educational institutions, and online platforms require reliable session management systems to protect sensitive data and maintain trust. This project focuses on developing a secure and efficient Smart Client Session Management System that provides users with robust session creation, monitoring, and termination features.</a:t>
            </a:r>
            <a:endParaRPr lang="en-US" alt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7"/>
          </p:nvPr>
        </p:nvSpPr>
        <p:spPr/>
        <p:txBody>
          <a:bodyPr/>
          <a:lstStyle/>
          <a:p>
            <a:fld id="{B6F15528-21DE-4FAA-801E-634DDDAF4B2B}" type="slidenum">
              <a:rPr lang="x-none" smtClean="0"/>
            </a:fld>
            <a:endParaRPr lang="x-none"/>
          </a:p>
        </p:txBody>
      </p:sp>
      <p:sp>
        <p:nvSpPr>
          <p:cNvPr id="30" name="Footer Placeholder 7"/>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00734" y="304800"/>
            <a:ext cx="8001000" cy="1244571"/>
          </a:xfrm>
          <a:prstGeom prst="rect">
            <a:avLst/>
          </a:prstGeom>
        </p:spPr>
        <p:txBody>
          <a:bodyPr vert="horz" wrap="square" lIns="0" tIns="13335" rIns="0" bIns="0" rtlCol="0">
            <a:spAutoFit/>
          </a:bodyPr>
          <a:lstStyle/>
          <a:p>
            <a:pPr marL="12700">
              <a:lnSpc>
                <a:spcPct val="100000"/>
              </a:lnSpc>
              <a:spcBef>
                <a:spcPts val="105"/>
              </a:spcBef>
            </a:pPr>
            <a:r>
              <a:rPr lang="en-US" sz="4000" dirty="0" smtClean="0"/>
              <a:t>Existing Systems</a:t>
            </a:r>
            <a:br>
              <a:rPr lang="en-US" sz="4000" spc="-5" dirty="0"/>
            </a:br>
            <a:endParaRPr sz="4000" dirty="0"/>
          </a:p>
        </p:txBody>
      </p:sp>
      <p:sp>
        <p:nvSpPr>
          <p:cNvPr id="3" name="Slide Number Placeholder 2"/>
          <p:cNvSpPr>
            <a:spLocks noGrp="1"/>
          </p:cNvSpPr>
          <p:nvPr>
            <p:ph type="sldNum" sz="quarter" idx="7"/>
          </p:nvPr>
        </p:nvSpPr>
        <p:spPr>
          <a:xfrm>
            <a:off x="8686800" y="6400800"/>
            <a:ext cx="2804160" cy="342900"/>
          </a:xfrm>
        </p:spPr>
        <p:txBody>
          <a:bodyPr/>
          <a:lstStyle/>
          <a:p>
            <a:fld id="{B6F15528-21DE-4FAA-801E-634DDDAF4B2B}" type="slidenum">
              <a:rPr lang="x-none" smtClean="0"/>
            </a:fld>
            <a:endParaRPr lang="x-none"/>
          </a:p>
        </p:txBody>
      </p:sp>
      <p:sp>
        <p:nvSpPr>
          <p:cNvPr id="6" name="Footer Placeholder 7"/>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graphicFrame>
        <p:nvGraphicFramePr>
          <p:cNvPr id="7" name="Table 6"/>
          <p:cNvGraphicFramePr>
            <a:graphicFrameLocks noGrp="1"/>
          </p:cNvGraphicFramePr>
          <p:nvPr>
            <p:custDataLst>
              <p:tags r:id="rId1"/>
            </p:custDataLst>
          </p:nvPr>
        </p:nvGraphicFramePr>
        <p:xfrm>
          <a:off x="1828800" y="0"/>
          <a:ext cx="8910320" cy="6209665"/>
        </p:xfrm>
        <a:graphic>
          <a:graphicData uri="http://schemas.openxmlformats.org/drawingml/2006/table">
            <a:tbl>
              <a:tblPr firstRow="1" firstCol="1" bandRow="1">
                <a:tableStyleId>{5C22544A-7EE6-4342-B048-85BDC9FD1C3A}</a:tableStyleId>
              </a:tblPr>
              <a:tblGrid>
                <a:gridCol w="894080"/>
                <a:gridCol w="2004060"/>
                <a:gridCol w="2004060"/>
                <a:gridCol w="2004060"/>
                <a:gridCol w="2004060"/>
              </a:tblGrid>
              <a:tr h="723265">
                <a:tc>
                  <a:txBody>
                    <a:bodyPr/>
                    <a:lstStyle/>
                    <a:p>
                      <a:pPr marL="85725" indent="0" algn="l">
                        <a:spcBef>
                          <a:spcPct val="0"/>
                        </a:spcBef>
                        <a:spcAft>
                          <a:spcPct val="0"/>
                        </a:spcAft>
                      </a:pPr>
                      <a:r>
                        <a:rPr sz="1800" b="1">
                          <a:solidFill>
                            <a:srgbClr val="000000"/>
                          </a:solidFill>
                          <a:latin typeface="Times New Roman" panose="02020603050405020304"/>
                          <a:ea typeface="Times New Roman" panose="02020603050405020304"/>
                        </a:rPr>
                        <a:t>No.</a:t>
                      </a:r>
                      <a:endParaRPr sz="1800" b="1">
                        <a:solidFill>
                          <a:srgbClr val="000000"/>
                        </a:solidFill>
                        <a:latin typeface="Times New Roman" panose="02020603050405020304"/>
                        <a:ea typeface="Times New Roman" panose="02020603050405020304"/>
                      </a:endParaRPr>
                    </a:p>
                  </a:txBody>
                  <a:tcPr marL="68580" marR="68580" marT="0" marB="0" anchor="ctr" anchorCtr="0">
                    <a:solidFill>
                      <a:srgbClr val="3A8C6B"/>
                    </a:solidFill>
                  </a:tcPr>
                </a:tc>
                <a:tc>
                  <a:txBody>
                    <a:bodyPr/>
                    <a:lstStyle/>
                    <a:p>
                      <a:pPr marL="85725" indent="0" algn="l">
                        <a:spcBef>
                          <a:spcPct val="0"/>
                        </a:spcBef>
                        <a:spcAft>
                          <a:spcPct val="0"/>
                        </a:spcAft>
                      </a:pPr>
                      <a:r>
                        <a:rPr sz="1800" b="1">
                          <a:solidFill>
                            <a:srgbClr val="000000"/>
                          </a:solidFill>
                          <a:latin typeface="Times New Roman" panose="02020603050405020304"/>
                          <a:ea typeface="SimSun" panose="02010600030101010101" pitchFamily="2" charset="-122"/>
                        </a:rPr>
                        <a:t>Author(s) &amp; Year</a:t>
                      </a:r>
                      <a:endParaRPr sz="1800" b="1">
                        <a:solidFill>
                          <a:srgbClr val="000000"/>
                        </a:solidFill>
                        <a:latin typeface="Times New Roman" panose="02020603050405020304"/>
                        <a:ea typeface="SimSun" panose="02010600030101010101" pitchFamily="2" charset="-122"/>
                      </a:endParaRPr>
                    </a:p>
                  </a:txBody>
                  <a:tcPr marL="68580" marR="68580" marT="0" marB="0" anchor="ctr" anchorCtr="0">
                    <a:solidFill>
                      <a:srgbClr val="3A8C6B"/>
                    </a:solidFill>
                  </a:tcPr>
                </a:tc>
                <a:tc>
                  <a:txBody>
                    <a:bodyPr/>
                    <a:lstStyle/>
                    <a:p>
                      <a:pPr marL="85725" indent="0" algn="l">
                        <a:spcBef>
                          <a:spcPct val="0"/>
                        </a:spcBef>
                        <a:spcAft>
                          <a:spcPct val="0"/>
                        </a:spcAft>
                      </a:pPr>
                      <a:r>
                        <a:rPr sz="1800" b="1">
                          <a:solidFill>
                            <a:srgbClr val="000000"/>
                          </a:solidFill>
                          <a:latin typeface="Times New Roman" panose="02020603050405020304"/>
                          <a:ea typeface="SimSun" panose="02010600030101010101" pitchFamily="2" charset="-122"/>
                        </a:rPr>
                        <a:t>Methodology</a:t>
                      </a:r>
                      <a:endParaRPr sz="1800" b="1">
                        <a:solidFill>
                          <a:srgbClr val="000000"/>
                        </a:solidFill>
                        <a:latin typeface="Times New Roman" panose="02020603050405020304"/>
                        <a:ea typeface="SimSun" panose="02010600030101010101" pitchFamily="2" charset="-122"/>
                      </a:endParaRPr>
                    </a:p>
                  </a:txBody>
                  <a:tcPr marL="68580" marR="68580" marT="0" marB="0" anchor="ctr" anchorCtr="0">
                    <a:solidFill>
                      <a:srgbClr val="3A8C6B"/>
                    </a:solidFill>
                  </a:tcPr>
                </a:tc>
                <a:tc>
                  <a:txBody>
                    <a:bodyPr/>
                    <a:p>
                      <a:pPr marL="85725" indent="0" algn="l">
                        <a:spcBef>
                          <a:spcPct val="0"/>
                        </a:spcBef>
                        <a:spcAft>
                          <a:spcPct val="0"/>
                        </a:spcAft>
                      </a:pPr>
                      <a:r>
                        <a:rPr sz="1800" b="1">
                          <a:solidFill>
                            <a:srgbClr val="000000"/>
                          </a:solidFill>
                          <a:latin typeface="Times New Roman" panose="02020603050405020304"/>
                          <a:ea typeface="SimSun" panose="02010600030101010101" pitchFamily="2" charset="-122"/>
                        </a:rPr>
                        <a:t>Findings / Accuracy</a:t>
                      </a:r>
                      <a:endParaRPr sz="1800" b="1">
                        <a:solidFill>
                          <a:srgbClr val="000000"/>
                        </a:solidFill>
                        <a:latin typeface="Times New Roman" panose="02020603050405020304"/>
                        <a:ea typeface="SimSun" panose="02010600030101010101" pitchFamily="2" charset="-122"/>
                      </a:endParaRPr>
                    </a:p>
                  </a:txBody>
                  <a:tcPr marL="68580" marR="68580" marT="0" marB="0" anchor="ctr" anchorCtr="0"/>
                </a:tc>
                <a:tc>
                  <a:txBody>
                    <a:bodyPr/>
                    <a:p>
                      <a:pPr marL="85725" indent="0" algn="l">
                        <a:spcBef>
                          <a:spcPct val="0"/>
                        </a:spcBef>
                        <a:spcAft>
                          <a:spcPct val="0"/>
                        </a:spcAft>
                      </a:pPr>
                      <a:r>
                        <a:rPr sz="1800" b="1">
                          <a:solidFill>
                            <a:srgbClr val="000000"/>
                          </a:solidFill>
                          <a:latin typeface="Times New Roman" panose="02020603050405020304"/>
                          <a:ea typeface="SimSun" panose="02010600030101010101" pitchFamily="2" charset="-122"/>
                        </a:rPr>
                        <a:t>Deficiency</a:t>
                      </a:r>
                      <a:endParaRPr sz="1800" b="1">
                        <a:solidFill>
                          <a:srgbClr val="000000"/>
                        </a:solidFill>
                        <a:latin typeface="Times New Roman" panose="02020603050405020304"/>
                        <a:ea typeface="SimSun" panose="02010600030101010101" pitchFamily="2" charset="-122"/>
                      </a:endParaRPr>
                    </a:p>
                  </a:txBody>
                  <a:tcPr marL="68580" marR="68580" marT="0" marB="0" anchor="ctr" anchorCtr="0"/>
                </a:tc>
              </a:tr>
              <a:tr h="2194560">
                <a:tc>
                  <a:txBody>
                    <a:bodyPr/>
                    <a:lstStyle/>
                    <a:p>
                      <a:pPr marL="85725" indent="0" algn="l">
                        <a:spcBef>
                          <a:spcPct val="0"/>
                        </a:spcBef>
                        <a:spcAft>
                          <a:spcPct val="0"/>
                        </a:spcAft>
                      </a:pPr>
                      <a:r>
                        <a:rPr sz="1800">
                          <a:solidFill>
                            <a:srgbClr val="0000FF"/>
                          </a:solidFill>
                          <a:latin typeface="Times New Roman" panose="02020603050405020304"/>
                          <a:ea typeface="Times New Roman" panose="02020603050405020304"/>
                        </a:rPr>
                        <a:t>1</a:t>
                      </a:r>
                      <a:endParaRPr sz="1800">
                        <a:solidFill>
                          <a:srgbClr val="0000FF"/>
                        </a:solidFill>
                        <a:latin typeface="Times New Roman" panose="02020603050405020304"/>
                        <a:ea typeface="Times New Roman" panose="02020603050405020304"/>
                      </a:endParaRPr>
                    </a:p>
                  </a:txBody>
                  <a:tcPr marL="68580" marR="68580" marT="0" marB="0" anchor="ctr" anchorCtr="0">
                    <a:solidFill>
                      <a:srgbClr val="3A8C6B"/>
                    </a:solidFill>
                  </a:tcPr>
                </a:tc>
                <a:tc>
                  <a:txBody>
                    <a:bodyPr/>
                    <a:lstStyle/>
                    <a:p>
                      <a:pPr marL="85725" indent="0" algn="l">
                        <a:spcBef>
                          <a:spcPct val="0"/>
                        </a:spcBef>
                        <a:spcAft>
                          <a:spcPct val="0"/>
                        </a:spcAft>
                      </a:pPr>
                      <a:r>
                        <a:rPr sz="1800" b="1">
                          <a:solidFill>
                            <a:srgbClr val="0000FF"/>
                          </a:solidFill>
                          <a:latin typeface="Times New Roman" panose="02020603050405020304"/>
                          <a:ea typeface="SimSun" panose="02010600030101010101" pitchFamily="2" charset="-122"/>
                        </a:rPr>
                        <a:t>Alharbi et al., 2021</a:t>
                      </a:r>
                      <a:endParaRPr sz="1800" b="1">
                        <a:solidFill>
                          <a:srgbClr val="0000FF"/>
                        </a:solidFill>
                        <a:latin typeface="Times New Roman" panose="02020603050405020304"/>
                        <a:ea typeface="SimSun" panose="02010600030101010101" pitchFamily="2" charset="-122"/>
                      </a:endParaRPr>
                    </a:p>
                  </a:txBody>
                  <a:tcPr marL="68580" marR="68580" marT="0" marB="0" anchor="ctr" anchorCtr="0">
                    <a:solidFill>
                      <a:schemeClr val="accent3">
                        <a:lumMod val="40000"/>
                        <a:lumOff val="60000"/>
                      </a:schemeClr>
                    </a:solidFill>
                  </a:tcPr>
                </a:tc>
                <a:tc>
                  <a:txBody>
                    <a:bodyPr/>
                    <a:lstStyle/>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Proposed a secure session management framework with encryption &amp; timeout policies; evaluated on web applications</a:t>
                      </a:r>
                      <a:endParaRPr sz="1800">
                        <a:solidFill>
                          <a:srgbClr val="0000FF"/>
                        </a:solidFill>
                        <a:latin typeface="Times New Roman" panose="02020603050405020304"/>
                        <a:ea typeface="SimSun" panose="02010600030101010101" pitchFamily="2" charset="-122"/>
                      </a:endParaRPr>
                    </a:p>
                  </a:txBody>
                  <a:tcPr marL="68580" marR="68580" marT="0" marB="0" anchor="ctr" anchorCtr="0">
                    <a:solidFill>
                      <a:schemeClr val="accent3">
                        <a:lumMod val="40000"/>
                        <a:lumOff val="60000"/>
                      </a:schemeClr>
                    </a:solidFill>
                  </a:tcPr>
                </a:tc>
                <a:tc>
                  <a:txBody>
                    <a:bodyPr/>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Improved confidentiality and prevented session hijacking; showed resilience in test environments</a:t>
                      </a:r>
                      <a:endParaRPr sz="1800">
                        <a:solidFill>
                          <a:srgbClr val="0000FF"/>
                        </a:solidFill>
                        <a:latin typeface="Times New Roman" panose="02020603050405020304"/>
                        <a:ea typeface="SimSun" panose="02010600030101010101" pitchFamily="2" charset="-122"/>
                      </a:endParaRPr>
                    </a:p>
                  </a:txBody>
                  <a:tcPr marL="68580" marR="68580" marT="0" marB="0" anchor="ctr" anchorCtr="0"/>
                </a:tc>
                <a:tc>
                  <a:txBody>
                    <a:bodyPr/>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Tested only on limited dataset; no evaluation for mobile/web hybrid apps</a:t>
                      </a:r>
                      <a:endParaRPr sz="1800">
                        <a:solidFill>
                          <a:srgbClr val="0000FF"/>
                        </a:solidFill>
                        <a:latin typeface="Times New Roman" panose="02020603050405020304"/>
                        <a:ea typeface="SimSun" panose="02010600030101010101" pitchFamily="2" charset="-122"/>
                      </a:endParaRPr>
                    </a:p>
                  </a:txBody>
                  <a:tcPr marL="68580" marR="68580" marT="0" marB="0" anchor="ctr" anchorCtr="0"/>
                </a:tc>
              </a:tr>
              <a:tr h="1645920">
                <a:tc>
                  <a:txBody>
                    <a:bodyPr/>
                    <a:lstStyle/>
                    <a:p>
                      <a:pPr marL="85725" indent="0" algn="l">
                        <a:spcBef>
                          <a:spcPct val="0"/>
                        </a:spcBef>
                        <a:spcAft>
                          <a:spcPct val="0"/>
                        </a:spcAft>
                      </a:pPr>
                      <a:r>
                        <a:rPr sz="1800">
                          <a:solidFill>
                            <a:srgbClr val="0000FF"/>
                          </a:solidFill>
                          <a:latin typeface="Times New Roman" panose="02020603050405020304"/>
                          <a:ea typeface="Times New Roman" panose="02020603050405020304"/>
                        </a:rPr>
                        <a:t>2</a:t>
                      </a:r>
                      <a:endParaRPr sz="1800">
                        <a:solidFill>
                          <a:srgbClr val="0000FF"/>
                        </a:solidFill>
                        <a:latin typeface="Times New Roman" panose="02020603050405020304"/>
                        <a:ea typeface="Times New Roman" panose="02020603050405020304"/>
                      </a:endParaRPr>
                    </a:p>
                  </a:txBody>
                  <a:tcPr marL="68580" marR="68580" marT="0" marB="0" anchor="ctr" anchorCtr="0">
                    <a:solidFill>
                      <a:srgbClr val="3A8C6B"/>
                    </a:solidFill>
                  </a:tcPr>
                </a:tc>
                <a:tc>
                  <a:txBody>
                    <a:bodyPr/>
                    <a:lstStyle/>
                    <a:p>
                      <a:pPr marL="85725" indent="0" algn="l">
                        <a:spcBef>
                          <a:spcPct val="0"/>
                        </a:spcBef>
                        <a:spcAft>
                          <a:spcPct val="0"/>
                        </a:spcAft>
                      </a:pPr>
                      <a:r>
                        <a:rPr sz="1800" b="1">
                          <a:solidFill>
                            <a:srgbClr val="0000FF"/>
                          </a:solidFill>
                          <a:latin typeface="Times New Roman" panose="02020603050405020304"/>
                          <a:ea typeface="SimSun" panose="02010600030101010101" pitchFamily="2" charset="-122"/>
                        </a:rPr>
                        <a:t>MDPI Authors, 2022</a:t>
                      </a:r>
                      <a:endParaRPr sz="1800" b="1">
                        <a:solidFill>
                          <a:srgbClr val="0000FF"/>
                        </a:solidFill>
                        <a:latin typeface="Times New Roman" panose="02020603050405020304"/>
                        <a:ea typeface="SimSun" panose="02010600030101010101" pitchFamily="2" charset="-122"/>
                      </a:endParaRPr>
                    </a:p>
                  </a:txBody>
                  <a:tcPr marL="68580" marR="68580" marT="0" marB="0" anchor="ctr" anchorCtr="0">
                    <a:solidFill>
                      <a:schemeClr val="accent3">
                        <a:lumMod val="20000"/>
                        <a:lumOff val="80000"/>
                      </a:schemeClr>
                    </a:solidFill>
                  </a:tcPr>
                </a:tc>
                <a:tc>
                  <a:txBody>
                    <a:bodyPr/>
                    <a:lstStyle/>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Designed JWT-based prototype with behavior-weighted authentication</a:t>
                      </a:r>
                      <a:endParaRPr sz="1800">
                        <a:solidFill>
                          <a:srgbClr val="0000FF"/>
                        </a:solidFill>
                        <a:latin typeface="Times New Roman" panose="02020603050405020304"/>
                        <a:ea typeface="SimSun" panose="02010600030101010101" pitchFamily="2" charset="-122"/>
                      </a:endParaRPr>
                    </a:p>
                  </a:txBody>
                  <a:tcPr marL="68580" marR="68580" marT="0" marB="0" anchor="ctr" anchorCtr="0">
                    <a:solidFill>
                      <a:schemeClr val="accent3">
                        <a:lumMod val="20000"/>
                        <a:lumOff val="80000"/>
                      </a:schemeClr>
                    </a:solidFill>
                  </a:tcPr>
                </a:tc>
                <a:tc>
                  <a:txBody>
                    <a:bodyPr/>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Reduced unauthorized access and improved anomaly detection in test scenarios</a:t>
                      </a:r>
                      <a:endParaRPr sz="1800">
                        <a:solidFill>
                          <a:srgbClr val="0000FF"/>
                        </a:solidFill>
                        <a:latin typeface="Times New Roman" panose="02020603050405020304"/>
                        <a:ea typeface="SimSun" panose="02010600030101010101" pitchFamily="2" charset="-122"/>
                      </a:endParaRPr>
                    </a:p>
                  </a:txBody>
                  <a:tcPr marL="68580" marR="68580" marT="0" marB="0" anchor="ctr" anchorCtr="0"/>
                </a:tc>
                <a:tc>
                  <a:txBody>
                    <a:bodyPr/>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Implementation complexity and risk of false positives</a:t>
                      </a:r>
                      <a:endParaRPr sz="1800">
                        <a:solidFill>
                          <a:srgbClr val="0000FF"/>
                        </a:solidFill>
                        <a:latin typeface="Times New Roman" panose="02020603050405020304"/>
                        <a:ea typeface="SimSun" panose="02010600030101010101" pitchFamily="2" charset="-122"/>
                      </a:endParaRPr>
                    </a:p>
                  </a:txBody>
                  <a:tcPr marL="68580" marR="68580" marT="0" marB="0" anchor="ctr" anchorCtr="0"/>
                </a:tc>
              </a:tr>
              <a:tr h="1645920">
                <a:tc>
                  <a:txBody>
                    <a:bodyPr/>
                    <a:p>
                      <a:pPr marL="85725" indent="0" algn="l">
                        <a:spcBef>
                          <a:spcPct val="0"/>
                        </a:spcBef>
                        <a:spcAft>
                          <a:spcPct val="0"/>
                        </a:spcAft>
                      </a:pPr>
                      <a:r>
                        <a:rPr sz="1800">
                          <a:solidFill>
                            <a:srgbClr val="0000FF"/>
                          </a:solidFill>
                          <a:latin typeface="Times New Roman" panose="02020603050405020304"/>
                          <a:ea typeface="Times New Roman" panose="02020603050405020304"/>
                        </a:rPr>
                        <a:t>3</a:t>
                      </a:r>
                      <a:endParaRPr sz="1800">
                        <a:solidFill>
                          <a:srgbClr val="0000FF"/>
                        </a:solidFill>
                        <a:latin typeface="Times New Roman" panose="02020603050405020304"/>
                        <a:ea typeface="Times New Roman" panose="02020603050405020304"/>
                      </a:endParaRPr>
                    </a:p>
                  </a:txBody>
                  <a:tcPr marL="68580" marR="68580" marT="0" marB="0" anchor="ctr" anchorCtr="0"/>
                </a:tc>
                <a:tc>
                  <a:txBody>
                    <a:bodyPr/>
                    <a:p>
                      <a:pPr marL="85725" indent="0" algn="l">
                        <a:spcBef>
                          <a:spcPct val="0"/>
                        </a:spcBef>
                        <a:spcAft>
                          <a:spcPct val="0"/>
                        </a:spcAft>
                      </a:pPr>
                      <a:r>
                        <a:rPr sz="1800" b="1">
                          <a:solidFill>
                            <a:srgbClr val="0000FF"/>
                          </a:solidFill>
                          <a:latin typeface="Times New Roman" panose="02020603050405020304"/>
                          <a:ea typeface="SimSun" panose="02010600030101010101" pitchFamily="2" charset="-122"/>
                        </a:rPr>
                        <a:t>Kumar &amp; Singh, 2022</a:t>
                      </a:r>
                      <a:endParaRPr sz="1800" b="1">
                        <a:solidFill>
                          <a:srgbClr val="0000FF"/>
                        </a:solidFill>
                        <a:latin typeface="Times New Roman" panose="02020603050405020304"/>
                        <a:ea typeface="SimSun" panose="02010600030101010101" pitchFamily="2" charset="-122"/>
                      </a:endParaRPr>
                    </a:p>
                  </a:txBody>
                  <a:tcPr marL="68580" marR="68580" marT="0" marB="0" anchor="ctr" anchorCtr="0"/>
                </a:tc>
                <a:tc>
                  <a:txBody>
                    <a:bodyPr/>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Comparative survey of modern session/token handling methods (cookies vs OAuth2/JWT)</a:t>
                      </a:r>
                      <a:endParaRPr sz="1800">
                        <a:solidFill>
                          <a:srgbClr val="0000FF"/>
                        </a:solidFill>
                        <a:latin typeface="Times New Roman" panose="02020603050405020304"/>
                        <a:ea typeface="SimSun" panose="02010600030101010101" pitchFamily="2" charset="-122"/>
                      </a:endParaRPr>
                    </a:p>
                  </a:txBody>
                  <a:tcPr marL="68580" marR="68580" marT="0" marB="0" anchor="ctr" anchorCtr="0"/>
                </a:tc>
                <a:tc>
                  <a:txBody>
                    <a:bodyPr/>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Found OAuth2 and JWT more scalable and secure compared to traditional cookies</a:t>
                      </a:r>
                      <a:endParaRPr sz="1800">
                        <a:solidFill>
                          <a:srgbClr val="0000FF"/>
                        </a:solidFill>
                        <a:latin typeface="Times New Roman" panose="02020603050405020304"/>
                        <a:ea typeface="SimSun" panose="02010600030101010101" pitchFamily="2" charset="-122"/>
                      </a:endParaRPr>
                    </a:p>
                  </a:txBody>
                  <a:tcPr marL="68580" marR="68580" marT="0" marB="0" anchor="ctr" anchorCtr="0"/>
                </a:tc>
                <a:tc>
                  <a:txBody>
                    <a:bodyPr/>
                    <a:p>
                      <a:pPr marL="85725" indent="0" algn="l">
                        <a:spcBef>
                          <a:spcPct val="0"/>
                        </a:spcBef>
                        <a:spcAft>
                          <a:spcPct val="0"/>
                        </a:spcAft>
                      </a:pPr>
                      <a:r>
                        <a:rPr sz="1800">
                          <a:solidFill>
                            <a:srgbClr val="0000FF"/>
                          </a:solidFill>
                          <a:latin typeface="Times New Roman" panose="02020603050405020304"/>
                          <a:ea typeface="SimSun" panose="02010600030101010101" pitchFamily="2" charset="-122"/>
                        </a:rPr>
                        <a:t>Mostly theoretical survey; lacked real-world implementation testing</a:t>
                      </a:r>
                      <a:endParaRPr sz="1800">
                        <a:solidFill>
                          <a:srgbClr val="0000FF"/>
                        </a:solidFill>
                        <a:latin typeface="Times New Roman" panose="02020603050405020304"/>
                        <a:ea typeface="SimSun" panose="02010600030101010101" pitchFamily="2" charset="-122"/>
                      </a:endParaRPr>
                    </a:p>
                  </a:txBody>
                  <a:tcPr marL="68580" marR="68580" marT="0" marB="0" anchor="ctr" anchorCtr="0"/>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p:txBody>
      </p:sp>
      <p:sp>
        <p:nvSpPr>
          <p:cNvPr id="4" name="object 4"/>
          <p:cNvSpPr/>
          <p:nvPr/>
        </p:nvSpPr>
        <p:spPr>
          <a:xfrm>
            <a:off x="2539238" y="6254191"/>
            <a:ext cx="6875780" cy="216535"/>
          </a:xfrm>
          <a:custGeom>
            <a:avLst/>
            <a:gdLst/>
            <a:ahLst/>
            <a:cxnLst/>
            <a:rect l="l" t="t" r="r" b="b"/>
            <a:pathLst>
              <a:path w="6875780" h="216535">
                <a:moveTo>
                  <a:pt x="0" y="216407"/>
                </a:moveTo>
                <a:lnTo>
                  <a:pt x="6875398" y="216407"/>
                </a:lnTo>
                <a:lnTo>
                  <a:pt x="6875398" y="0"/>
                </a:lnTo>
                <a:lnTo>
                  <a:pt x="0" y="0"/>
                </a:lnTo>
                <a:lnTo>
                  <a:pt x="0" y="216407"/>
                </a:lnTo>
                <a:close/>
              </a:path>
            </a:pathLst>
          </a:custGeom>
          <a:solidFill>
            <a:srgbClr val="1D9A78"/>
          </a:solidFill>
        </p:spPr>
        <p:txBody>
          <a:bodyPr wrap="square" lIns="0" tIns="0" rIns="0" bIns="0" rtlCol="0"/>
          <a:lstStyle/>
          <a:p/>
        </p:txBody>
      </p:sp>
      <p:sp>
        <p:nvSpPr>
          <p:cNvPr id="5" name="object 5"/>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p:txBody>
      </p:sp>
      <p:sp>
        <p:nvSpPr>
          <p:cNvPr id="6" name="object 6"/>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p:txBody>
      </p:sp>
      <p:sp>
        <p:nvSpPr>
          <p:cNvPr id="7" name="object 7"/>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p:txBody>
      </p:sp>
      <p:sp>
        <p:nvSpPr>
          <p:cNvPr id="8" name="object 8"/>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9" name="object 9"/>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p:txBody>
      </p:sp>
      <p:sp>
        <p:nvSpPr>
          <p:cNvPr id="10" name="object 10"/>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11" name="object 11"/>
          <p:cNvSpPr txBox="1">
            <a:spLocks noGrp="1"/>
          </p:cNvSpPr>
          <p:nvPr>
            <p:ph type="title"/>
          </p:nvPr>
        </p:nvSpPr>
        <p:spPr>
          <a:xfrm>
            <a:off x="3733800" y="342786"/>
            <a:ext cx="8201914" cy="690574"/>
          </a:xfrm>
          <a:prstGeom prst="rect">
            <a:avLst/>
          </a:prstGeom>
        </p:spPr>
        <p:txBody>
          <a:bodyPr vert="horz" wrap="square" lIns="0" tIns="13335" rIns="0" bIns="0" rtlCol="0">
            <a:spAutoFit/>
          </a:bodyPr>
          <a:lstStyle/>
          <a:p>
            <a:pPr marL="12700">
              <a:lnSpc>
                <a:spcPct val="100000"/>
              </a:lnSpc>
              <a:spcBef>
                <a:spcPts val="105"/>
              </a:spcBef>
            </a:pPr>
            <a:r>
              <a:rPr sz="4400" dirty="0"/>
              <a:t>Problem</a:t>
            </a:r>
            <a:r>
              <a:rPr sz="4400" spc="-60" dirty="0"/>
              <a:t> </a:t>
            </a:r>
            <a:r>
              <a:rPr lang="en-US" sz="4400" spc="-5" dirty="0"/>
              <a:t>S</a:t>
            </a:r>
            <a:r>
              <a:rPr sz="4400" spc="-5" dirty="0" smtClean="0"/>
              <a:t>tatement</a:t>
            </a:r>
            <a:endParaRPr sz="4400" dirty="0"/>
          </a:p>
        </p:txBody>
      </p:sp>
      <p:sp>
        <p:nvSpPr>
          <p:cNvPr id="12" name="object 12"/>
          <p:cNvSpPr txBox="1"/>
          <p:nvPr/>
        </p:nvSpPr>
        <p:spPr>
          <a:xfrm>
            <a:off x="654812" y="1251673"/>
            <a:ext cx="10851388" cy="4067810"/>
          </a:xfrm>
          <a:prstGeom prst="rect">
            <a:avLst/>
          </a:prstGeom>
        </p:spPr>
        <p:txBody>
          <a:bodyPr vert="horz" wrap="square" lIns="0" tIns="13335" rIns="0" bIns="0" rtlCol="0">
            <a:spAutoFit/>
          </a:bodyPr>
          <a:lstStyle/>
          <a:p>
            <a:pPr marL="12700" marR="5080" algn="just">
              <a:lnSpc>
                <a:spcPct val="144000"/>
              </a:lnSpc>
              <a:spcBef>
                <a:spcPts val="105"/>
              </a:spcBef>
            </a:pPr>
            <a:r>
              <a:rPr lang="en-US" altLang="en-US" sz="2000" dirty="0">
                <a:solidFill>
                  <a:schemeClr val="tx1"/>
                </a:solidFill>
                <a:latin typeface="Times New Roman" panose="02020603050405020304" pitchFamily="18" charset="0"/>
                <a:cs typeface="Times New Roman" panose="02020603050405020304" pitchFamily="18" charset="0"/>
              </a:rPr>
              <a:t>Poorly managed user sessions increase the risk of security breaches, unauthorized access, and data compromise. Current approaches lack:</a:t>
            </a:r>
            <a:endParaRPr lang="en-US" altLang="en-US" sz="2000" dirty="0">
              <a:solidFill>
                <a:schemeClr val="tx1"/>
              </a:solidFill>
              <a:latin typeface="Times New Roman" panose="02020603050405020304" pitchFamily="18" charset="0"/>
              <a:cs typeface="Times New Roman" panose="02020603050405020304" pitchFamily="18" charset="0"/>
            </a:endParaRPr>
          </a:p>
          <a:p>
            <a:pPr marL="355600" marR="5080" indent="-342900" algn="just">
              <a:lnSpc>
                <a:spcPct val="144000"/>
              </a:lnSpc>
              <a:spcBef>
                <a:spcPts val="105"/>
              </a:spcBef>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Secure creation and destruction of sessions.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355600" marR="5080" indent="-342900" algn="just">
              <a:lnSpc>
                <a:spcPct val="144000"/>
              </a:lnSpc>
              <a:spcBef>
                <a:spcPts val="105"/>
              </a:spcBef>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Real-time tracking of active sessions.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355600" marR="5080" indent="-342900" algn="just">
              <a:lnSpc>
                <a:spcPct val="144000"/>
              </a:lnSpc>
              <a:spcBef>
                <a:spcPts val="105"/>
              </a:spcBef>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Integrated reporting or analytics.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12700" marR="5080" algn="just">
              <a:lnSpc>
                <a:spcPct val="144000"/>
              </a:lnSpc>
              <a:spcBef>
                <a:spcPts val="105"/>
              </a:spcBef>
            </a:pPr>
            <a:endParaRPr lang="en-US" altLang="en-US" sz="2000" dirty="0">
              <a:solidFill>
                <a:schemeClr val="tx1"/>
              </a:solidFill>
              <a:latin typeface="Times New Roman" panose="02020603050405020304" pitchFamily="18" charset="0"/>
              <a:cs typeface="Times New Roman" panose="02020603050405020304" pitchFamily="18" charset="0"/>
            </a:endParaRPr>
          </a:p>
          <a:p>
            <a:pPr marL="12700" marR="5080" algn="just">
              <a:lnSpc>
                <a:spcPct val="144000"/>
              </a:lnSpc>
              <a:spcBef>
                <a:spcPts val="105"/>
              </a:spcBef>
            </a:pPr>
            <a:r>
              <a:rPr lang="en-US" altLang="en-US" sz="2000" dirty="0">
                <a:solidFill>
                  <a:schemeClr val="tx1"/>
                </a:solidFill>
                <a:latin typeface="Times New Roman" panose="02020603050405020304" pitchFamily="18" charset="0"/>
                <a:cs typeface="Times New Roman" panose="02020603050405020304" pitchFamily="18" charset="0"/>
              </a:rPr>
              <a:t>This research aims to design and implement a Smart Client Session Management System that overcomes these weaknesses by offering secure session handling, monitoring, and reporting capabilities in an easy-to-use web interface.</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7"/>
          </p:nvPr>
        </p:nvSpPr>
        <p:spPr/>
        <p:txBody>
          <a:bodyPr/>
          <a:lstStyle/>
          <a:p>
            <a:fld id="{B6F15528-21DE-4FAA-801E-634DDDAF4B2B}" type="slidenum">
              <a:rPr lang="x-none" smtClean="0"/>
            </a:fld>
            <a:endParaRPr lang="x-none"/>
          </a:p>
        </p:txBody>
      </p:sp>
      <p:sp>
        <p:nvSpPr>
          <p:cNvPr id="14" name="Footer Placeholder 7"/>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9466" y="152400"/>
            <a:ext cx="8297481" cy="461665"/>
          </a:xfrm>
        </p:spPr>
        <p:txBody>
          <a:bodyPr/>
          <a:lstStyle/>
          <a:p>
            <a:pPr algn="ctr"/>
            <a:r>
              <a:rPr lang="en-GB" dirty="0"/>
              <a:t>Proposed Solution </a:t>
            </a:r>
            <a:r>
              <a:rPr lang="en-GB" dirty="0" smtClean="0"/>
              <a:t>(System </a:t>
            </a:r>
            <a:r>
              <a:rPr lang="en-GB" dirty="0"/>
              <a:t>Model)</a:t>
            </a:r>
            <a:endParaRPr lang="en-GB" dirty="0"/>
          </a:p>
        </p:txBody>
      </p:sp>
      <p:sp>
        <p:nvSpPr>
          <p:cNvPr id="7" name="Slide Number Placeholder 6"/>
          <p:cNvSpPr>
            <a:spLocks noGrp="1"/>
          </p:cNvSpPr>
          <p:nvPr>
            <p:ph type="sldNum" sz="quarter" idx="7"/>
          </p:nvPr>
        </p:nvSpPr>
        <p:spPr/>
        <p:txBody>
          <a:bodyPr/>
          <a:lstStyle/>
          <a:p>
            <a:fld id="{B6F15528-21DE-4FAA-801E-634DDDAF4B2B}" type="slidenum">
              <a:rPr lang="x-none" smtClean="0"/>
            </a:fld>
            <a:endParaRPr lang="x-none"/>
          </a:p>
        </p:txBody>
      </p:sp>
      <p:sp>
        <p:nvSpPr>
          <p:cNvPr id="8" name="Footer Placeholder 7"/>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
        <p:nvSpPr>
          <p:cNvPr id="4" name="Rectangle 3"/>
          <p:cNvSpPr/>
          <p:nvPr/>
        </p:nvSpPr>
        <p:spPr>
          <a:xfrm>
            <a:off x="152400" y="1219200"/>
            <a:ext cx="6096000" cy="4246245"/>
          </a:xfrm>
          <a:prstGeom prst="rect">
            <a:avLst/>
          </a:prstGeom>
        </p:spPr>
        <p:txBody>
          <a:bodyPr>
            <a:spAutoFit/>
          </a:bodyPr>
          <a:lstStyle/>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proposed system ensures secure session handling through Node.js and Express.js with session middleware. It allows users to:</a:t>
            </a: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Create sessions securely.</a:t>
            </a: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View active sessions in real-time.</a:t>
            </a: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Logout and terminate sessions properly.</a:t>
            </a: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Generate session reports for monitoring and auditing.</a:t>
            </a: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Future enhancements include database integration for persistent session storage and AI-driven anomaly detection to identify abnormal user activity.</a:t>
            </a:r>
            <a:endParaRPr lang="en-US" altLang="en-US"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1"/>
          <a:stretch>
            <a:fillRect/>
          </a:stretch>
        </p:blipFill>
        <p:spPr>
          <a:xfrm>
            <a:off x="6858000" y="838200"/>
            <a:ext cx="5181600" cy="512826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0" y="388786"/>
            <a:ext cx="7424675" cy="492443"/>
          </a:xfrm>
        </p:spPr>
        <p:txBody>
          <a:bodyPr/>
          <a:lstStyle/>
          <a:p>
            <a:r>
              <a:rPr lang="en-US" sz="3200" spc="-5" dirty="0" smtClean="0"/>
              <a:t>Tools and Technology</a:t>
            </a:r>
            <a:endParaRPr lang="en-US" dirty="0"/>
          </a:p>
        </p:txBody>
      </p:sp>
      <p:sp>
        <p:nvSpPr>
          <p:cNvPr id="3" name="Content Placeholder 2"/>
          <p:cNvSpPr>
            <a:spLocks noGrp="1"/>
          </p:cNvSpPr>
          <p:nvPr>
            <p:ph sz="half" idx="2"/>
          </p:nvPr>
        </p:nvSpPr>
        <p:spPr>
          <a:xfrm>
            <a:off x="609600" y="1828800"/>
            <a:ext cx="10972800" cy="3046730"/>
          </a:xfrm>
        </p:spPr>
        <p:txBody>
          <a:bodyPr>
            <a:noAutofit/>
          </a:bodyPr>
          <a:lstStyle/>
          <a:p>
            <a:pPr algn="just"/>
            <a:r>
              <a:rPr lang="en-US" altLang="en-US" sz="1800" b="0" dirty="0">
                <a:solidFill>
                  <a:schemeClr val="tx1"/>
                </a:solidFill>
              </a:rPr>
              <a:t>Frontend: HTML, CSS, JavaScript</a:t>
            </a:r>
            <a:endParaRPr lang="en-US" altLang="en-US" sz="1800" b="0" dirty="0">
              <a:solidFill>
                <a:schemeClr val="tx1"/>
              </a:solidFill>
            </a:endParaRPr>
          </a:p>
          <a:p>
            <a:pPr algn="just"/>
            <a:endParaRPr lang="en-US" altLang="en-US" sz="1800" b="0" dirty="0">
              <a:solidFill>
                <a:schemeClr val="tx1"/>
              </a:solidFill>
            </a:endParaRPr>
          </a:p>
          <a:p>
            <a:pPr algn="just"/>
            <a:r>
              <a:rPr lang="en-US" altLang="en-US" sz="1800" b="0" dirty="0">
                <a:solidFill>
                  <a:schemeClr val="tx1"/>
                </a:solidFill>
              </a:rPr>
              <a:t>Backend: Node.js, Express.js</a:t>
            </a:r>
            <a:endParaRPr lang="en-US" altLang="en-US" sz="1800" b="0" dirty="0">
              <a:solidFill>
                <a:schemeClr val="tx1"/>
              </a:solidFill>
            </a:endParaRPr>
          </a:p>
          <a:p>
            <a:pPr algn="just"/>
            <a:endParaRPr lang="en-US" altLang="en-US" sz="1800" b="0" dirty="0">
              <a:solidFill>
                <a:schemeClr val="tx1"/>
              </a:solidFill>
            </a:endParaRPr>
          </a:p>
          <a:p>
            <a:pPr algn="just"/>
            <a:r>
              <a:rPr lang="en-US" altLang="en-US" sz="1800" b="0" dirty="0">
                <a:solidFill>
                  <a:schemeClr val="tx1"/>
                </a:solidFill>
              </a:rPr>
              <a:t>Session Handling: express-session library</a:t>
            </a:r>
            <a:endParaRPr lang="en-US" altLang="en-US" sz="1800" b="0" dirty="0">
              <a:solidFill>
                <a:schemeClr val="tx1"/>
              </a:solidFill>
            </a:endParaRPr>
          </a:p>
          <a:p>
            <a:pPr algn="just"/>
            <a:endParaRPr lang="en-US" altLang="en-US" sz="1800" b="0" dirty="0">
              <a:solidFill>
                <a:schemeClr val="tx1"/>
              </a:solidFill>
            </a:endParaRPr>
          </a:p>
          <a:p>
            <a:pPr algn="just"/>
            <a:r>
              <a:rPr lang="en-US" altLang="en-US" sz="1800" b="0" dirty="0">
                <a:solidFill>
                  <a:schemeClr val="tx1"/>
                </a:solidFill>
              </a:rPr>
              <a:t>Database (Future): MySQL or MongoDB</a:t>
            </a:r>
            <a:endParaRPr lang="en-US" altLang="en-US" sz="1800" b="0" dirty="0">
              <a:solidFill>
                <a:schemeClr val="tx1"/>
              </a:solidFill>
            </a:endParaRPr>
          </a:p>
          <a:p>
            <a:pPr algn="just"/>
            <a:endParaRPr lang="en-US" altLang="en-US" sz="1800" b="0" dirty="0">
              <a:solidFill>
                <a:schemeClr val="tx1"/>
              </a:solidFill>
            </a:endParaRPr>
          </a:p>
          <a:p>
            <a:pPr algn="just"/>
            <a:r>
              <a:rPr lang="en-US" altLang="en-US" sz="1800" b="0" dirty="0">
                <a:solidFill>
                  <a:schemeClr val="tx1"/>
                </a:solidFill>
              </a:rPr>
              <a:t>Development Methodology: Agile (iterative sprints for session creation, viewing, reporting, and enhancements)</a:t>
            </a:r>
            <a:endParaRPr lang="en-US" altLang="en-US" sz="1800" b="0" dirty="0">
              <a:solidFill>
                <a:schemeClr val="tx1"/>
              </a:solidFill>
            </a:endParaRPr>
          </a:p>
        </p:txBody>
      </p:sp>
      <p:sp>
        <p:nvSpPr>
          <p:cNvPr id="6" name="Slide Number Placeholder 5"/>
          <p:cNvSpPr>
            <a:spLocks noGrp="1"/>
          </p:cNvSpPr>
          <p:nvPr>
            <p:ph type="sldNum" sz="quarter" idx="7"/>
          </p:nvPr>
        </p:nvSpPr>
        <p:spPr/>
        <p:txBody>
          <a:bodyPr/>
          <a:lstStyle/>
          <a:p>
            <a:fld id="{B6F15528-21DE-4FAA-801E-634DDDAF4B2B}" type="slidenum">
              <a:rPr lang="en-US" smtClean="0"/>
            </a:fld>
            <a:endParaRPr lang="en-US"/>
          </a:p>
        </p:txBody>
      </p:sp>
      <p:sp>
        <p:nvSpPr>
          <p:cNvPr id="8" name="Footer Placeholder 7"/>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657600" y="152400"/>
            <a:ext cx="6083300" cy="461645"/>
          </a:xfrm>
        </p:spPr>
        <p:txBody>
          <a:bodyPr wrap="square"/>
          <a:p>
            <a:r>
              <a:rPr lang="en-US"/>
              <a:t>functional-non requirments</a:t>
            </a:r>
            <a:endParaRPr lang="en-US"/>
          </a:p>
        </p:txBody>
      </p:sp>
      <p:sp>
        <p:nvSpPr>
          <p:cNvPr id="3" name="Content Placeholder 2"/>
          <p:cNvSpPr>
            <a:spLocks noGrp="1"/>
          </p:cNvSpPr>
          <p:nvPr>
            <p:ph sz="half" idx="2"/>
          </p:nvPr>
        </p:nvSpPr>
        <p:spPr>
          <a:xfrm>
            <a:off x="609600" y="1577340"/>
            <a:ext cx="5303520" cy="4560570"/>
          </a:xfrm>
        </p:spPr>
        <p:txBody>
          <a:bodyPr>
            <a:noAutofit/>
          </a:bodyPr>
          <a:p>
            <a:r>
              <a:rPr lang="en-US" altLang="en-US" sz="1600"/>
              <a:t>3.2 Functional Requirements</a:t>
            </a:r>
            <a:endParaRPr lang="en-US" altLang="en-US" sz="1600"/>
          </a:p>
          <a:p>
            <a:r>
              <a:rPr lang="en-US" altLang="en-US" sz="1600"/>
              <a:t>Functional requirements define the specific behaviors and operations a system must perform to fulfill user needs [3]. In the Smart Client Session Management System, the functional requirements are as follows.</a:t>
            </a:r>
            <a:endParaRPr lang="en-US" altLang="en-US" sz="1600"/>
          </a:p>
          <a:p>
            <a:r>
              <a:rPr lang="en-US" altLang="en-US" sz="1600"/>
              <a:t>FR-3.2.1: The system shall allow users to create secure sessions with unique identifiers.</a:t>
            </a:r>
            <a:endParaRPr lang="en-US" altLang="en-US" sz="1600"/>
          </a:p>
          <a:p>
            <a:r>
              <a:rPr lang="en-US" altLang="en-US" sz="1600"/>
              <a:t>FR-3.2.2: The system shall allow users and admins to view active sessions.</a:t>
            </a:r>
            <a:endParaRPr lang="en-US" altLang="en-US" sz="1600"/>
          </a:p>
          <a:p>
            <a:r>
              <a:rPr lang="en-US" altLang="en-US" sz="1600"/>
              <a:t>FR-3.2.3: The system shall allow users to securely logout from any active session.</a:t>
            </a:r>
            <a:endParaRPr lang="en-US" altLang="en-US" sz="1600"/>
          </a:p>
          <a:p>
            <a:r>
              <a:rPr lang="en-US" altLang="en-US" sz="1600"/>
              <a:t>FR-3.2.4: The system shall allow admins to generate reports of session activities.</a:t>
            </a:r>
            <a:endParaRPr lang="en-US" altLang="en-US" sz="1600"/>
          </a:p>
          <a:p>
            <a:r>
              <a:rPr lang="en-US" altLang="en-US" sz="1600"/>
              <a:t>FR-3.2.5: The system shall allow admins to configure session-related settings.</a:t>
            </a:r>
            <a:endParaRPr lang="en-US" altLang="en-US" sz="1600"/>
          </a:p>
          <a:p>
            <a:endParaRPr lang="en-US" altLang="en-US" sz="1600"/>
          </a:p>
          <a:p>
            <a:endParaRPr lang="en-US" altLang="en-US" sz="1600"/>
          </a:p>
        </p:txBody>
      </p:sp>
      <p:sp>
        <p:nvSpPr>
          <p:cNvPr id="4" name="Content Placeholder 3"/>
          <p:cNvSpPr>
            <a:spLocks noGrp="1"/>
          </p:cNvSpPr>
          <p:nvPr>
            <p:ph sz="half" idx="3"/>
          </p:nvPr>
        </p:nvSpPr>
        <p:spPr>
          <a:xfrm>
            <a:off x="6278880" y="1577340"/>
            <a:ext cx="5303520" cy="4860290"/>
          </a:xfrm>
        </p:spPr>
        <p:txBody>
          <a:bodyPr>
            <a:noAutofit/>
          </a:bodyPr>
          <a:p>
            <a:r>
              <a:rPr lang="en-US" altLang="en-US" sz="1600">
                <a:sym typeface="+mn-ea"/>
              </a:rPr>
              <a:t>3.3 Non-Functional Requirements</a:t>
            </a:r>
            <a:endParaRPr lang="en-US" altLang="en-US" sz="1600"/>
          </a:p>
          <a:p>
            <a:r>
              <a:rPr lang="en-US" altLang="en-US" sz="1600">
                <a:sym typeface="+mn-ea"/>
              </a:rPr>
              <a:t>Non-functional requirements describe the qualities and constraints of the system, such as performance, usability, and security [3]. For the Smart Client Session Management System, the non-functional requirements are as follows.</a:t>
            </a:r>
            <a:endParaRPr lang="en-US" altLang="en-US" sz="1600"/>
          </a:p>
          <a:p>
            <a:r>
              <a:rPr lang="en-US" altLang="en-US" sz="1600">
                <a:sym typeface="+mn-ea"/>
              </a:rPr>
              <a:t>NFR-3.3.1 Scalability: The system should handle multiple concurrent sessions efficiently.</a:t>
            </a:r>
            <a:endParaRPr lang="en-US" altLang="en-US" sz="1600"/>
          </a:p>
          <a:p>
            <a:r>
              <a:rPr lang="en-US" altLang="en-US" sz="1600">
                <a:sym typeface="+mn-ea"/>
              </a:rPr>
              <a:t>NFR-3.3.2 Security: Sessions should be protected from hijacking and unauthorized access using secure cookies and encryption.</a:t>
            </a:r>
            <a:endParaRPr lang="en-US" altLang="en-US" sz="1600"/>
          </a:p>
          <a:p>
            <a:r>
              <a:rPr lang="en-US" altLang="en-US" sz="1600">
                <a:sym typeface="+mn-ea"/>
              </a:rPr>
              <a:t>NFR-3.3.3 Reliability: The system should maintain consistent performance and session NFR-3.3.4 Usability: The interface should be simple, user-friendly, and accessible.</a:t>
            </a:r>
            <a:endParaRPr lang="en-US" altLang="en-US" sz="1600"/>
          </a:p>
          <a:p>
            <a:r>
              <a:rPr lang="en-US" altLang="en-US" sz="1600">
                <a:sym typeface="+mn-ea"/>
              </a:rPr>
              <a:t>NFR-3.3.5 Extensibility: The system should be designed to support future enhancements, such as database integration and AI-based monitoring.</a:t>
            </a:r>
            <a:endParaRPr lang="en-US" altLang="en-US" sz="1600"/>
          </a:p>
          <a:p>
            <a:endParaRPr lang="en-US" altLang="en-US" sz="1600"/>
          </a:p>
        </p:txBody>
      </p:sp>
      <p:sp>
        <p:nvSpPr>
          <p:cNvPr id="5" name="Footer Placeholder 4"/>
          <p:cNvSpPr>
            <a:spLocks noGrp="1"/>
          </p:cNvSpPr>
          <p:nvPr>
            <p:ph type="ftr" sz="quarter" idx="5"/>
          </p:nvPr>
        </p:nvSpPr>
        <p:spPr/>
        <p:txBody>
          <a:bodyPr/>
          <a:p>
            <a:pPr algn="ctr">
              <a:lnSpc>
                <a:spcPts val="1435"/>
              </a:lnSpc>
            </a:pPr>
            <a:r>
              <a:rPr lang="en-US"/>
              <a:t>MS synopsis defense by XXXX, Oct 04, 2021 Department of Computer Science, COMSATS University Islamabad, Islamabad-Pakistan</a:t>
            </a:r>
            <a:endParaRPr spc="-5" dirty="0"/>
          </a:p>
        </p:txBody>
      </p:sp>
      <p:sp>
        <p:nvSpPr>
          <p:cNvPr id="6" name="Slide Number Placeholder 5"/>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p:txBody>
      </p:sp>
      <p:sp>
        <p:nvSpPr>
          <p:cNvPr id="7" name="object 5"/>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p:txBody>
      </p:sp>
      <p:sp>
        <p:nvSpPr>
          <p:cNvPr id="8" name="object 6"/>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p:txBody>
      </p:sp>
      <p:sp>
        <p:nvSpPr>
          <p:cNvPr id="9" name="object 7"/>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p:txBody>
      </p:sp>
      <p:sp>
        <p:nvSpPr>
          <p:cNvPr id="10" name="object 8"/>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11" name="object 9"/>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p:txBody>
      </p:sp>
      <p:sp>
        <p:nvSpPr>
          <p:cNvPr id="12" name="object 10"/>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13" name="object 11"/>
          <p:cNvSpPr txBox="1">
            <a:spLocks noGrp="1"/>
          </p:cNvSpPr>
          <p:nvPr>
            <p:ph type="title"/>
          </p:nvPr>
        </p:nvSpPr>
        <p:spPr>
          <a:xfrm>
            <a:off x="1600200" y="381000"/>
            <a:ext cx="9199683" cy="617798"/>
          </a:xfrm>
          <a:prstGeom prst="rect">
            <a:avLst/>
          </a:prstGeom>
        </p:spPr>
        <p:txBody>
          <a:bodyPr vert="horz" wrap="square" lIns="0" tIns="12700" rIns="0" bIns="0" rtlCol="0">
            <a:spAutoFit/>
          </a:bodyPr>
          <a:lstStyle/>
          <a:p>
            <a:pPr marL="1072515" marR="5080" indent="-1096645" algn="ctr">
              <a:lnSpc>
                <a:spcPct val="105000"/>
              </a:lnSpc>
              <a:spcBef>
                <a:spcPts val="100"/>
              </a:spcBef>
            </a:pPr>
            <a:r>
              <a:rPr lang="en-US" sz="4000" spc="-5" dirty="0" smtClean="0"/>
              <a:t>Significance</a:t>
            </a:r>
            <a:endParaRPr sz="4000" dirty="0"/>
          </a:p>
        </p:txBody>
      </p:sp>
      <p:sp>
        <p:nvSpPr>
          <p:cNvPr id="16" name="object 3"/>
          <p:cNvSpPr txBox="1"/>
          <p:nvPr/>
        </p:nvSpPr>
        <p:spPr>
          <a:xfrm>
            <a:off x="457200" y="5760755"/>
            <a:ext cx="11582400" cy="259045"/>
          </a:xfrm>
          <a:prstGeom prst="rect">
            <a:avLst/>
          </a:prstGeom>
        </p:spPr>
        <p:txBody>
          <a:bodyPr vert="horz" wrap="square" lIns="0" tIns="104140" rIns="0" bIns="0" rtlCol="0">
            <a:spAutoFit/>
          </a:bodyPr>
          <a:lstStyle/>
          <a:p>
            <a:pPr marL="12700" algn="just">
              <a:spcBef>
                <a:spcPts val="820"/>
              </a:spcBef>
              <a:tabLst>
                <a:tab pos="241300" algn="l"/>
              </a:tabLst>
            </a:pPr>
            <a:r>
              <a:rPr lang="en-US" sz="1000"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7"/>
          </p:nvPr>
        </p:nvSpPr>
        <p:spPr/>
        <p:txBody>
          <a:bodyPr/>
          <a:lstStyle/>
          <a:p>
            <a:fld id="{B6F15528-21DE-4FAA-801E-634DDDAF4B2B}" type="slidenum">
              <a:rPr lang="x-none" smtClean="0"/>
            </a:fld>
            <a:endParaRPr lang="x-none"/>
          </a:p>
        </p:txBody>
      </p:sp>
      <p:sp>
        <p:nvSpPr>
          <p:cNvPr id="17" name="Footer Placeholder 7"/>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
        <p:nvSpPr>
          <p:cNvPr id="4" name="Rectangle 3"/>
          <p:cNvSpPr/>
          <p:nvPr/>
        </p:nvSpPr>
        <p:spPr>
          <a:xfrm>
            <a:off x="685800" y="1699260"/>
            <a:ext cx="10896600" cy="2842895"/>
          </a:xfrm>
          <a:prstGeom prst="rect">
            <a:avLst/>
          </a:prstGeom>
        </p:spPr>
        <p:txBody>
          <a:bodyPr wrap="square">
            <a:noAutofit/>
          </a:bodyPr>
          <a:lstStyle/>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The project demonstrates how secure session management can be achieved in a simple and scalable way. By integrating session monitoring and reporting, the system improves transparency and strengthens security. Unlike existing cookie-based approaches, this project lays the foundation for future integration with AI-based monitoring and persistent databases.</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p:txBody>
      </p:sp>
      <p:sp>
        <p:nvSpPr>
          <p:cNvPr id="5" name="object 4"/>
          <p:cNvSpPr/>
          <p:nvPr/>
        </p:nvSpPr>
        <p:spPr>
          <a:xfrm>
            <a:off x="2539238" y="6254191"/>
            <a:ext cx="6875780" cy="216535"/>
          </a:xfrm>
          <a:custGeom>
            <a:avLst/>
            <a:gdLst/>
            <a:ahLst/>
            <a:cxnLst/>
            <a:rect l="l" t="t" r="r" b="b"/>
            <a:pathLst>
              <a:path w="6875780" h="216535">
                <a:moveTo>
                  <a:pt x="0" y="216407"/>
                </a:moveTo>
                <a:lnTo>
                  <a:pt x="6875398" y="216407"/>
                </a:lnTo>
                <a:lnTo>
                  <a:pt x="6875398" y="0"/>
                </a:lnTo>
                <a:lnTo>
                  <a:pt x="0" y="0"/>
                </a:lnTo>
                <a:lnTo>
                  <a:pt x="0" y="216407"/>
                </a:lnTo>
                <a:close/>
              </a:path>
            </a:pathLst>
          </a:custGeom>
          <a:solidFill>
            <a:srgbClr val="1D9A78"/>
          </a:solidFill>
        </p:spPr>
        <p:txBody>
          <a:bodyPr wrap="square" lIns="0" tIns="0" rIns="0" bIns="0" rtlCol="0"/>
          <a:lstStyle/>
          <a:p/>
        </p:txBody>
      </p:sp>
      <p:sp>
        <p:nvSpPr>
          <p:cNvPr id="6" name="object 5"/>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p:txBody>
      </p:sp>
      <p:sp>
        <p:nvSpPr>
          <p:cNvPr id="7" name="object 6"/>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p:txBody>
      </p:sp>
      <p:sp>
        <p:nvSpPr>
          <p:cNvPr id="8" name="object 7"/>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p:txBody>
      </p:sp>
      <p:sp>
        <p:nvSpPr>
          <p:cNvPr id="9" name="object 8"/>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10" name="object 9"/>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p:txBody>
      </p:sp>
      <p:sp>
        <p:nvSpPr>
          <p:cNvPr id="11" name="object 10"/>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p:txBody>
      </p:sp>
      <p:sp>
        <p:nvSpPr>
          <p:cNvPr id="12" name="object 11"/>
          <p:cNvSpPr txBox="1">
            <a:spLocks noGrp="1"/>
          </p:cNvSpPr>
          <p:nvPr>
            <p:ph type="title"/>
          </p:nvPr>
        </p:nvSpPr>
        <p:spPr>
          <a:xfrm>
            <a:off x="1600200" y="228600"/>
            <a:ext cx="9199683" cy="617798"/>
          </a:xfrm>
          <a:prstGeom prst="rect">
            <a:avLst/>
          </a:prstGeom>
        </p:spPr>
        <p:txBody>
          <a:bodyPr vert="horz" wrap="square" lIns="0" tIns="12700" rIns="0" bIns="0" rtlCol="0">
            <a:spAutoFit/>
          </a:bodyPr>
          <a:lstStyle/>
          <a:p>
            <a:pPr marL="1072515" marR="5080" indent="-1096645" algn="ctr">
              <a:lnSpc>
                <a:spcPct val="105000"/>
              </a:lnSpc>
              <a:spcBef>
                <a:spcPts val="100"/>
              </a:spcBef>
            </a:pPr>
            <a:r>
              <a:rPr lang="en-US" sz="4000" spc="-5" dirty="0"/>
              <a:t>References</a:t>
            </a:r>
            <a:endParaRPr sz="4000" dirty="0"/>
          </a:p>
        </p:txBody>
      </p:sp>
      <p:sp>
        <p:nvSpPr>
          <p:cNvPr id="3" name="Slide Number Placeholder 2"/>
          <p:cNvSpPr>
            <a:spLocks noGrp="1"/>
          </p:cNvSpPr>
          <p:nvPr>
            <p:ph type="sldNum" sz="quarter" idx="7"/>
          </p:nvPr>
        </p:nvSpPr>
        <p:spPr/>
        <p:txBody>
          <a:bodyPr/>
          <a:lstStyle/>
          <a:p>
            <a:fld id="{B6F15528-21DE-4FAA-801E-634DDDAF4B2B}" type="slidenum">
              <a:rPr lang="x-none" smtClean="0"/>
            </a:fld>
            <a:endParaRPr lang="x-none"/>
          </a:p>
        </p:txBody>
      </p:sp>
      <p:sp>
        <p:nvSpPr>
          <p:cNvPr id="15" name="Footer Placeholder 7"/>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
        <p:nvSpPr>
          <p:cNvPr id="13" name="Text Box 12"/>
          <p:cNvSpPr txBox="1"/>
          <p:nvPr/>
        </p:nvSpPr>
        <p:spPr>
          <a:xfrm>
            <a:off x="173355" y="1035050"/>
            <a:ext cx="11660505" cy="5653405"/>
          </a:xfrm>
          <a:prstGeom prst="rect">
            <a:avLst/>
          </a:prstGeom>
          <a:noFill/>
        </p:spPr>
        <p:txBody>
          <a:bodyPr wrap="square" rtlCol="0">
            <a:noAutofit/>
          </a:bodyPr>
          <a:p>
            <a:r>
              <a:rPr lang="en-US" altLang="en-US"/>
              <a:t>DIVA Thesis, 2024: DIVA et al. conducted an empirical study in 2024 focusing on real-world deployments of JSON Web Token (JWT) systems to assess their compliance with the RFC 8725 security recommendations. The study gathered data from several open-source and commercial web applications, analyzing how each implementation handled token expiration, signature algorithm configuration, and vulnerable migration paths. Their findings showed that a large percentage of applications misuse JWT by setting overly long token lifetimes and neglecting algorithm verification (e.g. accepting “none” or weak HMAC without checking). Moreover, many systems stored secret keys insecurely or reused them across services. The accuracy of detecting insecure JWT setups was high (over 80%) among the sampled applications. However, the study was limited by its dataset size (about 30 applications) and did not include mobile-only or IoT-based systems. Thus, while the conclusions are strong for the sampled set, generalization to all types of web applications remains uncertain.</a:t>
            </a:r>
            <a:endParaRPr lang="en-US" altLang="en-US"/>
          </a:p>
          <a:p>
            <a:endParaRPr lang="en-US" altLang="en-US"/>
          </a:p>
          <a:p>
            <a:r>
              <a:rPr lang="en-US" altLang="en-US"/>
              <a:t>Source: “Empirical Study of JWT Deployments vs RFC8725 Best Practices” (DIVA Thesis, 2024). [You would cite the thesis link / university repository here].</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a:xfrm>
            <a:off x="2514346" y="990472"/>
            <a:ext cx="6636257" cy="2675254"/>
          </a:xfrm>
        </p:spPr>
        <p:txBody>
          <a:bodyPr/>
          <a:p>
            <a:endParaRPr lang="en-US"/>
          </a:p>
        </p:txBody>
      </p:sp>
      <p:sp>
        <p:nvSpPr>
          <p:cNvPr id="4" name="Footer Placeholder 3"/>
          <p:cNvSpPr>
            <a:spLocks noGrp="1"/>
          </p:cNvSpPr>
          <p:nvPr>
            <p:ph type="ftr" sz="quarter" idx="5"/>
          </p:nvPr>
        </p:nvSpPr>
        <p:spPr/>
        <p:txBody>
          <a:bodyPr/>
          <a:p>
            <a:pPr algn="ctr">
              <a:lnSpc>
                <a:spcPts val="1435"/>
              </a:lnSpc>
            </a:pPr>
            <a:r>
              <a:rPr lang="en-US"/>
              <a:t>MS synopsis defense by XXXX, Oct 04, 2021 Department of Computer Science, COMSATS University Islamabad, Islamabad-Pakistan</a:t>
            </a:r>
            <a:endParaRPr spc="-5" dirty="0"/>
          </a:p>
        </p:txBody>
      </p:sp>
      <p:sp>
        <p:nvSpPr>
          <p:cNvPr id="5" name="Slide Number Placeholder 4"/>
          <p:cNvSpPr>
            <a:spLocks noGrp="1"/>
          </p:cNvSpPr>
          <p:nvPr>
            <p:ph type="sldNum" sz="quarter" idx="7"/>
          </p:nvPr>
        </p:nvSpPr>
        <p:spPr/>
        <p:txBody>
          <a:bodyPr/>
          <a:p>
            <a:fld id="{B6F15528-21DE-4FAA-801E-634DDDAF4B2B}" type="slidenum">
              <a:rPr/>
            </a:fld>
            <a:endParaRPr/>
          </a:p>
        </p:txBody>
      </p:sp>
      <p:sp>
        <p:nvSpPr>
          <p:cNvPr id="11" name="Title 10"/>
          <p:cNvSpPr/>
          <p:nvPr>
            <p:ph type="title"/>
          </p:nvPr>
        </p:nvSpPr>
        <p:spPr/>
        <p:txBody>
          <a:bodyPr/>
          <a:p>
            <a:endParaRPr lang="en-US"/>
          </a:p>
        </p:txBody>
      </p:sp>
      <p:pic>
        <p:nvPicPr>
          <p:cNvPr id="2" name="Picture 1"/>
          <p:cNvPicPr>
            <a:picLocks noChangeAspect="1"/>
          </p:cNvPicPr>
          <p:nvPr/>
        </p:nvPicPr>
        <p:blipFill>
          <a:blip r:embed="rId1"/>
          <a:stretch>
            <a:fillRect/>
          </a:stretch>
        </p:blipFill>
        <p:spPr>
          <a:xfrm>
            <a:off x="1171575" y="685800"/>
            <a:ext cx="9848850" cy="66008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p:txBody>
          <a:bodyPr/>
          <a:p>
            <a:endParaRPr lang="en-US"/>
          </a:p>
        </p:txBody>
      </p:sp>
      <p:sp>
        <p:nvSpPr>
          <p:cNvPr id="4" name="Footer Placeholder 3"/>
          <p:cNvSpPr>
            <a:spLocks noGrp="1"/>
          </p:cNvSpPr>
          <p:nvPr>
            <p:ph type="ftr" sz="quarter" idx="5"/>
          </p:nvPr>
        </p:nvSpPr>
        <p:spPr/>
        <p:txBody>
          <a:bodyPr/>
          <a:p>
            <a:pPr algn="ctr">
              <a:lnSpc>
                <a:spcPts val="1435"/>
              </a:lnSpc>
            </a:pPr>
            <a:r>
              <a:rPr lang="en-US"/>
              <a:t>MS synopsis defense by XXXX, Oct 04, 2021 Department of Computer Science, COMSATS University Islamabad, Islamabad-Pakistan</a:t>
            </a:r>
            <a:endParaRPr spc="-5" dirty="0"/>
          </a:p>
        </p:txBody>
      </p:sp>
      <p:sp>
        <p:nvSpPr>
          <p:cNvPr id="5" name="Slide Number Placeholder 4"/>
          <p:cNvSpPr>
            <a:spLocks noGrp="1"/>
          </p:cNvSpPr>
          <p:nvPr>
            <p:ph type="sldNum" sz="quarter" idx="7"/>
          </p:nvPr>
        </p:nvSpPr>
        <p:spPr/>
        <p:txBody>
          <a:bodyPr/>
          <a:p>
            <a:fld id="{B6F15528-21DE-4FAA-801E-634DDDAF4B2B}" type="slidenum">
              <a:rPr/>
            </a:fld>
            <a:endParaRPr/>
          </a:p>
        </p:txBody>
      </p:sp>
    </p:spTree>
  </p:cSld>
  <p:clrMapOvr>
    <a:masterClrMapping/>
  </p:clrMapOvr>
</p:sld>
</file>

<file path=ppt/tags/tag1.xml><?xml version="1.0" encoding="utf-8"?>
<p:tagLst xmlns:p="http://schemas.openxmlformats.org/presentationml/2006/main">
  <p:tag name="TABLE_ENDDRAG_ORIGIN_RECT" val="701*535"/>
  <p:tag name="TABLE_ENDDRAG_RECT" val="144*0*701*53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2bfaa11-99c6-498c-857f-9dce0584d807">
      <UserInfo>
        <DisplayName>Graduate Program Members</DisplayName>
        <AccountId>7</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A2FC6D46D9CA94A908574E96ACAE827" ma:contentTypeVersion="10" ma:contentTypeDescription="Create a new document." ma:contentTypeScope="" ma:versionID="0e31cd35e8032ebd9045e102ebce3542">
  <xsd:schema xmlns:xsd="http://www.w3.org/2001/XMLSchema" xmlns:xs="http://www.w3.org/2001/XMLSchema" xmlns:p="http://schemas.microsoft.com/office/2006/metadata/properties" xmlns:ns2="048d7129-d959-4121-ad64-d390d2e84076" xmlns:ns3="72bfaa11-99c6-498c-857f-9dce0584d807" targetNamespace="http://schemas.microsoft.com/office/2006/metadata/properties" ma:root="true" ma:fieldsID="735e4d3af72da288468d3ac36890037d" ns2:_="" ns3:_="">
    <xsd:import namespace="048d7129-d959-4121-ad64-d390d2e84076"/>
    <xsd:import namespace="72bfaa11-99c6-498c-857f-9dce0584d80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8d7129-d959-4121-ad64-d390d2e840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2bfaa11-99c6-498c-857f-9dce0584d80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2.xml><?xml version="1.0" encoding="utf-8"?>
<ds:datastoreItem xmlns:ds="http://schemas.openxmlformats.org/officeDocument/2006/customXml" ds:itemID="{847A3023-05EC-49F0-9D3F-78DBA0FB32A1}">
  <ds:schemaRefs/>
</ds:datastoreItem>
</file>

<file path=customXml/itemProps3.xml><?xml version="1.0" encoding="utf-8"?>
<ds:datastoreItem xmlns:ds="http://schemas.openxmlformats.org/officeDocument/2006/customXml" ds:itemID="{217B91FE-9E32-40EB-A23B-310C73BCE99F}">
  <ds:schemaRefs/>
</ds:datastoreItem>
</file>

<file path=customXml/itemProps4.xml><?xml version="1.0" encoding="utf-8"?>
<ds:datastoreItem xmlns:ds="http://schemas.openxmlformats.org/officeDocument/2006/customXml" ds:itemID="{6A796F07-EB3B-4EE7-886F-F4117F511BCD}">
  <ds:schemaRefs/>
</ds:datastoreItem>
</file>

<file path=docProps/app.xml><?xml version="1.0" encoding="utf-8"?>
<Properties xmlns="http://schemas.openxmlformats.org/officeDocument/2006/extended-properties" xmlns:vt="http://schemas.openxmlformats.org/officeDocument/2006/docPropsVTypes">
  <TotalTime>0</TotalTime>
  <Words>7160</Words>
  <Application>WPS Presentation</Application>
  <PresentationFormat>Widescreen</PresentationFormat>
  <Paragraphs>166</Paragraphs>
  <Slides>11</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Times New Roman</vt:lpstr>
      <vt:lpstr>Calibri</vt:lpstr>
      <vt:lpstr>Symbol</vt:lpstr>
      <vt:lpstr>Times New Roman</vt:lpstr>
      <vt:lpstr>Microsoft YaHei</vt:lpstr>
      <vt:lpstr>Arial Unicode MS</vt:lpstr>
      <vt:lpstr>Office Theme</vt:lpstr>
      <vt:lpstr>Smart Client Session Management System</vt:lpstr>
      <vt:lpstr>Introduction </vt:lpstr>
      <vt:lpstr>Existing Systems </vt:lpstr>
      <vt:lpstr>Problem Statement</vt:lpstr>
      <vt:lpstr>Proposed Solution (System Model)</vt:lpstr>
      <vt:lpstr>Tools and Technology</vt:lpstr>
      <vt:lpstr>functional-non requirments</vt:lpstr>
      <vt:lpstr>Significance</vt:lpstr>
      <vt:lpstr>References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Middleware for Sensor networks</dc:title>
  <dc:creator>Owner</dc:creator>
  <cp:lastModifiedBy>HAIDER ALI</cp:lastModifiedBy>
  <cp:revision>153</cp:revision>
  <dcterms:created xsi:type="dcterms:W3CDTF">2021-03-13T08:41:00Z</dcterms:created>
  <dcterms:modified xsi:type="dcterms:W3CDTF">2025-09-15T08:16:14Z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2021-03-11T20:00:00Z</vt:filetime>
  </property>
  <property fmtid="{D5CDD505-2E9C-101B-9397-08002B2CF9AE}" pid="3" name="Creator">
    <vt:lpwstr>Microsoft® Word 2016</vt:lpwstr>
  </property>
  <property fmtid="{D5CDD505-2E9C-101B-9397-08002B2CF9AE}" pid="4" name="LastSaved">
    <vt:filetime>2021-03-11T20:00:00Z</vt:filetime>
  </property>
  <property fmtid="{D5CDD505-2E9C-101B-9397-08002B2CF9AE}" pid="5" name="ContentTypeId">
    <vt:lpwstr>0x0101003A2FC6D46D9CA94A908574E96ACAE827</vt:lpwstr>
  </property>
  <property fmtid="{D5CDD505-2E9C-101B-9397-08002B2CF9AE}" pid="6" name="ICV">
    <vt:lpwstr>5E7243AED5694501ACC50936FACE1B37_12</vt:lpwstr>
  </property>
  <property fmtid="{D5CDD505-2E9C-101B-9397-08002B2CF9AE}" pid="7" name="KSOProductBuildVer">
    <vt:lpwstr>1033-12.2.0.22549</vt:lpwstr>
  </property>
</Properties>
</file>